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"portada",</a:t>
            </a:r>
          </a:p>
          <a:p>
            <a:r>
              <a:t>  "proposito": "Presentar el tema y orientar al alumnado al comienzo de la clase.",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"marcador": "titulo",</a:t>
            </a:r>
          </a:p>
          <a:p>
            <a:r>
              <a:t>      "obligatorio": true,</a:t>
            </a:r>
          </a:p>
          <a:p>
            <a:r>
              <a:t>      "max_caracteres": 100,</a:t>
            </a:r>
          </a:p>
          <a:p>
            <a:r>
              <a:t>      "max_lineas": 2,</a:t>
            </a:r>
          </a:p>
          <a:p>
            <a:r>
              <a:t>      "tipo_dato": "string",</a:t>
            </a:r>
          </a:p>
          <a:p>
            <a:r>
              <a:t>      "descripcion": "Texto del campo titulo."</a:t>
            </a:r>
          </a:p>
          <a:p>
            <a:r>
              <a:t>    },</a:t>
            </a:r>
          </a:p>
          <a:p>
            <a:r>
              <a:t>    "subtitulo": {</a:t>
            </a:r>
          </a:p>
          <a:p>
            <a:r>
              <a:t>      "marcador": "subtitulo",</a:t>
            </a:r>
          </a:p>
          <a:p>
            <a:r>
              <a:t>      "max_caracteres": 180,</a:t>
            </a:r>
          </a:p>
          <a:p>
            <a:r>
              <a:t>      "max_lineas": 3,</a:t>
            </a:r>
          </a:p>
          <a:p>
            <a:r>
              <a:t>      "tipo_dato": "string",</a:t>
            </a:r>
          </a:p>
          <a:p>
            <a:r>
              <a:t>      "descripcion": "Texto del campo subtitulo."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"portada",</a:t>
            </a:r>
          </a:p>
          <a:p>
            <a:r>
              <a:t>    "titulo": "Herencia en Java",</a:t>
            </a:r>
          </a:p>
          <a:p>
            <a:r>
              <a:t>    "subtitulo": "Compartir comportamiento entre clases relacionadas"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"Texto literal; sin Markdown.",</a:t>
            </a:r>
          </a:p>
          <a:p>
            <a:r>
              <a:t>    "Diseño fijo; revisar el ajuste visual en PowerPoint."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"pregunta",</a:t>
            </a:r>
          </a:p>
          <a:p>
            <a:r>
              <a:t>  "proposito": "Plantear un problema cercano para construir intuición antes de la teoría.",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"marcador": "titulo",</a:t>
            </a:r>
          </a:p>
          <a:p>
            <a:r>
              <a:t>      "obligatorio": true,</a:t>
            </a:r>
          </a:p>
          <a:p>
            <a:r>
              <a:t>      "max_caracteres": 100,</a:t>
            </a:r>
          </a:p>
          <a:p>
            <a:r>
              <a:t>      "max_lineas": 2,</a:t>
            </a:r>
          </a:p>
          <a:p>
            <a:r>
              <a:t>      "tipo_dato": "string",</a:t>
            </a:r>
          </a:p>
          <a:p>
            <a:r>
              <a:t>      "descripcion": "Texto del campo titulo."</a:t>
            </a:r>
          </a:p>
          <a:p>
            <a:r>
              <a:t>    },</a:t>
            </a:r>
          </a:p>
          <a:p>
            <a:r>
              <a:t>    "contenido": {</a:t>
            </a:r>
          </a:p>
          <a:p>
            <a:r>
              <a:t>      "marcador": "contenido",</a:t>
            </a:r>
          </a:p>
          <a:p>
            <a:r>
              <a:t>      "obligatorio": true,</a:t>
            </a:r>
          </a:p>
          <a:p>
            <a:r>
              <a:t>      "max_caracteres": 500,</a:t>
            </a:r>
          </a:p>
          <a:p>
            <a:r>
              <a:t>      "max_lineas": 8,</a:t>
            </a:r>
          </a:p>
          <a:p>
            <a:r>
              <a:t>      "tipo_dato": "string",</a:t>
            </a:r>
          </a:p>
          <a:p>
            <a:r>
              <a:t>      "descripcion": "Texto del campo contenido."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"pregunta",</a:t>
            </a:r>
          </a:p>
          <a:p>
            <a:r>
              <a:t>    "titulo": "¿Dónde pondrías un comportamiento compartido?",</a:t>
            </a:r>
          </a:p>
          <a:p>
            <a:r>
              <a:t>    "contenido": "Una aplicación de una clínica registra perros y gatos.\nAmbos tienen nombre y pueden comer.\nSi copiamos ese código en dos clases, ¿cuántos lugares debemos revisar cuando cambia?"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"Texto literal; sin Markdown.",</a:t>
            </a:r>
          </a:p>
          <a:p>
            <a:r>
              <a:t>    "Diseño fijo; revisar el ajuste visual en PowerPoint."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"definicion",</a:t>
            </a:r>
          </a:p>
          <a:p>
            <a:r>
              <a:t>  "proposito": "Explicar un concepto y relacionarlo con un problema o ejemplo práctico.",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"marcador": "titulo",</a:t>
            </a:r>
          </a:p>
          <a:p>
            <a:r>
              <a:t>      "obligatorio": true,</a:t>
            </a:r>
          </a:p>
          <a:p>
            <a:r>
              <a:t>      "max_caracteres": 100,</a:t>
            </a:r>
          </a:p>
          <a:p>
            <a:r>
              <a:t>      "max_lineas": 2,</a:t>
            </a:r>
          </a:p>
          <a:p>
            <a:r>
              <a:t>      "tipo_dato": "string",</a:t>
            </a:r>
          </a:p>
          <a:p>
            <a:r>
              <a:t>      "descripcion": "Texto del campo titulo."</a:t>
            </a:r>
          </a:p>
          <a:p>
            <a:r>
              <a:t>    },</a:t>
            </a:r>
          </a:p>
          <a:p>
            <a:r>
              <a:t>    "contenido": {</a:t>
            </a:r>
          </a:p>
          <a:p>
            <a:r>
              <a:t>      "marcador": "contenido",</a:t>
            </a:r>
          </a:p>
          <a:p>
            <a:r>
              <a:t>      "obligatorio": true,</a:t>
            </a:r>
          </a:p>
          <a:p>
            <a:r>
              <a:t>      "max_caracteres": 500,</a:t>
            </a:r>
          </a:p>
          <a:p>
            <a:r>
              <a:t>      "max_lineas": 8,</a:t>
            </a:r>
          </a:p>
          <a:p>
            <a:r>
              <a:t>      "tipo_dato": "string",</a:t>
            </a:r>
          </a:p>
          <a:p>
            <a:r>
              <a:t>      "descripcion": "Texto del campo contenido."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"definicion",</a:t>
            </a:r>
          </a:p>
          <a:p>
            <a:r>
              <a:t>    "titulo": "Primero, recuerda qué es una clase",</a:t>
            </a:r>
          </a:p>
          <a:p>
            <a:r>
              <a:t>    "contenido": "Una clase describe los datos y las operaciones de un tipo de objeto.\nUn método es una operación definida en esa clase.\nAquí usaremos un método que imprime un mensaje."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"Texto literal; sin Markdown.",</a:t>
            </a:r>
          </a:p>
          <a:p>
            <a:r>
              <a:t>    "Diseño fijo; revisar el ajuste visual en PowerPoint."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[[PPTGEN_METADATA_JSON_V1]]</a:t>
            </a:r>
          </a:p>
          <a:p>
            <a:r>
              <a:t>{</a:t>
            </a:r>
          </a:p>
          <a:p>
            <a:r>
              <a:t>  "metadatos_version": 1,</a:t>
            </a:r>
          </a:p>
          <a:p>
            <a:r>
              <a:t>  "contrato_version": 1,</a:t>
            </a:r>
          </a:p>
          <a:p>
            <a:r>
              <a:t>  "tipo": "codigo",</a:t>
            </a:r>
          </a:p>
          <a:p>
            <a:r>
              <a:t>  "proposito": "Mostrar código legible y explicar su comportamiento sin ejecutarlo automáticamente.",</a:t>
            </a:r>
          </a:p>
          <a:p>
            <a:r>
              <a:t>  "campos": {</a:t>
            </a:r>
          </a:p>
          <a:p>
            <a:r>
              <a:t>    "titulo": {</a:t>
            </a:r>
          </a:p>
          <a:p>
            <a:r>
              <a:t>      "marcador": "titulo",</a:t>
            </a:r>
          </a:p>
          <a:p>
            <a:r>
              <a:t>      "obligatorio": true,</a:t>
            </a:r>
          </a:p>
          <a:p>
            <a:r>
              <a:t>      "max_caracteres": 100,</a:t>
            </a:r>
          </a:p>
          <a:p>
            <a:r>
              <a:t>      "max_lineas": 2,</a:t>
            </a:r>
          </a:p>
          <a:p>
            <a:r>
              <a:t>      "tipo_dato": "string",</a:t>
            </a:r>
          </a:p>
          <a:p>
            <a:r>
              <a:t>      "descripcion": "Texto del campo titulo."</a:t>
            </a:r>
          </a:p>
          <a:p>
            <a:r>
              <a:t>    },</a:t>
            </a:r>
          </a:p>
          <a:p>
            <a:r>
              <a:t>    "codigo": {</a:t>
            </a:r>
          </a:p>
          <a:p>
            <a:r>
              <a:t>      "marcador": "codigo",</a:t>
            </a:r>
          </a:p>
          <a:p>
            <a:r>
              <a:t>      "obligatorio": true,</a:t>
            </a:r>
          </a:p>
          <a:p>
            <a:r>
              <a:t>      "max_caracteres": 1400,</a:t>
            </a:r>
          </a:p>
          <a:p>
            <a:r>
              <a:t>      "max_lineas": 18,</a:t>
            </a:r>
          </a:p>
          <a:p>
            <a:r>
              <a:t>      "tipo_dato": "string",</a:t>
            </a:r>
          </a:p>
          <a:p>
            <a:r>
              <a:t>      "descripcion": "Texto del campo codigo."</a:t>
            </a:r>
          </a:p>
          <a:p>
            <a:r>
              <a:t>    },</a:t>
            </a:r>
          </a:p>
          <a:p>
            <a:r>
              <a:t>    "lenguaje": {</a:t>
            </a:r>
          </a:p>
          <a:p>
            <a:r>
              <a:t>      "marcador": "lenguaje",</a:t>
            </a:r>
          </a:p>
          <a:p>
            <a:r>
              <a:t>      "max_caracteres": 30,</a:t>
            </a:r>
          </a:p>
          <a:p>
            <a:r>
              <a:t>      "max_lineas": 1,</a:t>
            </a:r>
          </a:p>
          <a:p>
            <a:r>
              <a:t>      "tipo_dato": "string",</a:t>
            </a:r>
          </a:p>
          <a:p>
            <a:r>
              <a:t>      "descripcion": "Texto del campo lenguaje."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"ejemplo": {</a:t>
            </a:r>
          </a:p>
          <a:p>
            <a:r>
              <a:t>    "tipo": "codigo",</a:t>
            </a:r>
          </a:p>
          <a:p>
            <a:r>
              <a:t>    "titulo": "Guarda este ejemplo como Main.java",</a:t>
            </a:r>
          </a:p>
          <a:p>
            <a:r>
              <a:t>    "codigo": "class Animal {\n    void comer() {\n        System.out.println(\"El animal come\");\n    }\n}\n\nclass Perro extends Animal {}\n\npublic class Main {\n    public static void main(String[] args) {\n        Perro perro = new Perro();\n        perro.comer();\n    }\n}",</a:t>
            </a:r>
          </a:p>
          <a:p>
            <a:r>
              <a:t>    "lenguaje": "java"</a:t>
            </a:r>
          </a:p>
          <a:p>
            <a:r>
              <a:t>  },</a:t>
            </a:r>
          </a:p>
          <a:p>
            <a:r>
              <a:t>  "restricciones": [</a:t>
            </a:r>
          </a:p>
          <a:p>
            <a:r>
              <a:t>    "Texto literal; sin Markdown.",</a:t>
            </a:r>
          </a:p>
          <a:p>
            <a:r>
              <a:t>    "Diseño fijo; revisar el ajuste visual en PowerPoint."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[[/PPTGEN_METADATA_JSON_V1]]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PORTADA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88136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0">
                <a:solidFill>
                  <a:srgbClr val="CED7E4"/>
                </a:solidFill>
                <a:latin typeface="Aptos"/>
              </a:rPr>
              <a:t>{{ subtitulo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PREGUNTA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3337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0">
                <a:solidFill>
                  <a:srgbClr val="CED7E4"/>
                </a:solidFill>
                <a:latin typeface="Aptos"/>
              </a:rPr>
              <a:t>{{ contenido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DEFINICION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3337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0">
                <a:solidFill>
                  <a:srgbClr val="CED7E4"/>
                </a:solidFill>
                <a:latin typeface="Aptos"/>
              </a:rPr>
              <a:t>{{ contenido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CODIGO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0D5CB"/>
                </a:solidFill>
                <a:latin typeface="Aptos"/>
              </a:rPr>
              <a:t>{{ lenguaje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500"/>
              </a:lnSpc>
            </a:pPr>
            <a:r>
              <a:rPr sz="1400" b="0">
                <a:solidFill>
                  <a:srgbClr val="E7EDF6"/>
                </a:solidFill>
                <a:latin typeface="Consolas"/>
              </a:rPr>
              <a:t>{{ codigo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