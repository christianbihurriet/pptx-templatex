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"portada",</a:t>
            </a:r>
          </a:p>
          <a:p>
            <a:r>
              <a:t>  "proposito": "Presentar el tema y orientar al alumnado al comienzo de la clase.",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"subtitulo": {</a:t>
            </a:r>
          </a:p>
          <a:p>
            <a:r>
              <a:t>      "marcador": "subtitulo",</a:t>
            </a:r>
          </a:p>
          <a:p>
            <a:r>
              <a:t>      "max_caracteres": 180,</a:t>
            </a:r>
          </a:p>
          <a:p>
            <a:r>
              <a:t>      "max_lineas": 3,</a:t>
            </a:r>
          </a:p>
          <a:p>
            <a:r>
              <a:t>      "tipo_dato": "string",</a:t>
            </a:r>
          </a:p>
          <a:p>
            <a:r>
              <a:t>      "descripcion": "Texto del campo subtitulo."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"portada",</a:t>
            </a:r>
          </a:p>
          <a:p>
            <a:r>
              <a:t>    "titulo": "Herencia en Java",</a:t>
            </a:r>
          </a:p>
          <a:p>
            <a:r>
              <a:t>    "subtitulo": "Compartir comportamiento entre clases relacionadas"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"pregunta",</a:t>
            </a:r>
          </a:p>
          <a:p>
            <a:r>
              <a:t>  "proposito": "Plantear un problema cercano para construir intuición antes de la teoría.",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"contenido": {</a:t>
            </a:r>
          </a:p>
          <a:p>
            <a:r>
              <a:t>      "marcador": "contenido",</a:t>
            </a:r>
          </a:p>
          <a:p>
            <a:r>
              <a:t>      "obligatorio": true,</a:t>
            </a:r>
          </a:p>
          <a:p>
            <a:r>
              <a:t>      "max_caracteres": 500,</a:t>
            </a:r>
          </a:p>
          <a:p>
            <a:r>
              <a:t>      "max_lineas": 8,</a:t>
            </a:r>
          </a:p>
          <a:p>
            <a:r>
              <a:t>      "tipo_dato": "string",</a:t>
            </a:r>
          </a:p>
          <a:p>
            <a:r>
              <a:t>      "descripcion": "Texto del campo contenido."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"pregunta",</a:t>
            </a:r>
          </a:p>
          <a:p>
            <a:r>
              <a:t>    "titulo": "¿Dónde pondrías un comportamiento compartido?",</a:t>
            </a:r>
          </a:p>
          <a:p>
            <a:r>
              <a:t>    "contenido": "Una aplicación de una clínica registra perros y gatos.\nAmbos tienen nombre y pueden comer.\nSi copiamos ese código en dos clases, ¿cuántos lugares debemos revisar cuando cambia?"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"definicion",</a:t>
            </a:r>
          </a:p>
          <a:p>
            <a:r>
              <a:t>  "proposito": "Explicar un concepto y relacionarlo con un problema o ejemplo práctico.",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"contenido": {</a:t>
            </a:r>
          </a:p>
          <a:p>
            <a:r>
              <a:t>      "marcador": "contenido",</a:t>
            </a:r>
          </a:p>
          <a:p>
            <a:r>
              <a:t>      "obligatorio": true,</a:t>
            </a:r>
          </a:p>
          <a:p>
            <a:r>
              <a:t>      "max_caracteres": 500,</a:t>
            </a:r>
          </a:p>
          <a:p>
            <a:r>
              <a:t>      "max_lineas": 8,</a:t>
            </a:r>
          </a:p>
          <a:p>
            <a:r>
              <a:t>      "tipo_dato": "string",</a:t>
            </a:r>
          </a:p>
          <a:p>
            <a:r>
              <a:t>      "descripcion": "Texto del campo contenido."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"definicion",</a:t>
            </a:r>
          </a:p>
          <a:p>
            <a:r>
              <a:t>    "titulo": "Primero, recuerda qué es una clase",</a:t>
            </a:r>
          </a:p>
          <a:p>
            <a:r>
              <a:t>    "contenido": "Una clase describe los datos y las operaciones de un tipo de objeto.\nUn método es una operación definida en esa clase.\nAquí usaremos un método que imprime un mensaje."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"codigo",</a:t>
            </a:r>
          </a:p>
          <a:p>
            <a:r>
              <a:t>  "proposito": "Mostrar código legible y explicar su comportamiento sin ejecutarlo automáticamente.",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"codigo": {</a:t>
            </a:r>
          </a:p>
          <a:p>
            <a:r>
              <a:t>      "marcador": "codigo",</a:t>
            </a:r>
          </a:p>
          <a:p>
            <a:r>
              <a:t>      "obligatorio": true,</a:t>
            </a:r>
          </a:p>
          <a:p>
            <a:r>
              <a:t>      "max_caracteres": 1400,</a:t>
            </a:r>
          </a:p>
          <a:p>
            <a:r>
              <a:t>      "max_lineas": 18,</a:t>
            </a:r>
          </a:p>
          <a:p>
            <a:r>
              <a:t>      "tipo_dato": "string",</a:t>
            </a:r>
          </a:p>
          <a:p>
            <a:r>
              <a:t>      "descripcion": "Texto del campo codigo."</a:t>
            </a:r>
          </a:p>
          <a:p>
            <a:r>
              <a:t>    },</a:t>
            </a:r>
          </a:p>
          <a:p>
            <a:r>
              <a:t>    "lenguaje": {</a:t>
            </a:r>
          </a:p>
          <a:p>
            <a:r>
              <a:t>      "marcador": "lenguaje",</a:t>
            </a:r>
          </a:p>
          <a:p>
            <a:r>
              <a:t>      "max_caracteres": 30,</a:t>
            </a:r>
          </a:p>
          <a:p>
            <a:r>
              <a:t>      "max_lineas": 1,</a:t>
            </a:r>
          </a:p>
          <a:p>
            <a:r>
              <a:t>      "tipo_dato": "string",</a:t>
            </a:r>
          </a:p>
          <a:p>
            <a:r>
              <a:t>      "descripcion": "Texto del campo lenguaje."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"codigo",</a:t>
            </a:r>
          </a:p>
          <a:p>
            <a:r>
              <a:t>    "titulo": "Guarda este ejemplo como Main.java",</a:t>
            </a:r>
          </a:p>
          <a:p>
            <a:r>
              <a:t>    "codigo": "class Animal {\n    void comer() {\n        System.out.println(\"El animal come\");\n    }\n}\n\nclass Perro extends Animal {}\n\npublic class Main {\n    public static void main(String[] args) {\n        Perro perro = new Perro();\n        perro.comer();\n    }\n}",</a:t>
            </a:r>
          </a:p>
          <a:p>
            <a:r>
              <a:t>    "lenguaje": "java"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"explicacion",</a:t>
            </a:r>
          </a:p>
          <a:p>
            <a:r>
              <a:t>  "proposito": "Desarrollar una idea y concretarla con un ejemplo breve, sin convertirla en una lista de definiciones.",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"contenido":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360,</a:t>
            </a:r>
          </a:p>
          <a:p>
            <a:r>
              <a:t>      "max_lineas": 8,</a:t>
            </a:r>
          </a:p>
          <a:p>
            <a:r>
              <a:t>      "descripcion": "Explicación principal en frases cortas; introduce los términos antes de utilizarlos.",</a:t>
            </a:r>
          </a:p>
          <a:p>
            <a:r>
              <a:t>      "marcador": "contenido"</a:t>
            </a:r>
          </a:p>
          <a:p>
            <a:r>
              <a:t>    },</a:t>
            </a:r>
          </a:p>
          <a:p>
            <a:r>
              <a:t>    "ejemplo":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140,</a:t>
            </a:r>
          </a:p>
          <a:p>
            <a:r>
              <a:t>      "max_lineas": 6,</a:t>
            </a:r>
          </a:p>
          <a:p>
            <a:r>
              <a:t>      "descripcion": "Ejemplo corto, dato, expresión o fragmento; columna monoespaciada estrecha.",</a:t>
            </a:r>
          </a:p>
          <a:p>
            <a:r>
              <a:t>      "marcador": "ejemplo"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"explicacion",</a:t>
            </a:r>
          </a:p>
          <a:p>
            <a:r>
              <a:t>    "titulo": "Una lista crece con los datos",</a:t>
            </a:r>
          </a:p>
          <a:p>
            <a:r>
              <a:t>    "contenido": "ArrayList almacena elementos en orden y ajusta su capacidad interna.\nEl tamaño indica cuántos elementos contiene, no cuántos podría alojar.\nUsa el tipo genérico para que el compilador compruebe los valores.",</a:t>
            </a:r>
          </a:p>
          <a:p>
            <a:r>
              <a:t>    "ejemplo": "List&lt;String&gt; nombres =\n    new ArrayList&lt;&gt;();\nnombres.add(\"Ana\");\nnombres.size(); // 1"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"Ejemplo en Consolas 20 pt; recomienda no superar 22 caracteres por línea. No hay resaltado de sintaxis."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"problema",</a:t>
            </a:r>
          </a:p>
          <a:p>
            <a:r>
              <a:t>  "proposito": "Crear una necesidad de aprendizaje a partir de una situación, su dificultad y una pregunta investigable.",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"situacion":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130,</a:t>
            </a:r>
          </a:p>
          <a:p>
            <a:r>
              <a:t>      "max_lineas": 2,</a:t>
            </a:r>
          </a:p>
          <a:p>
            <a:r>
              <a:t>      "descripcion": "Contexto cercano al alumnado, antes de introducir la solución.",</a:t>
            </a:r>
          </a:p>
          <a:p>
            <a:r>
              <a:t>      "marcador": "situacion"</a:t>
            </a:r>
          </a:p>
          <a:p>
            <a:r>
              <a:t>    },</a:t>
            </a:r>
          </a:p>
          <a:p>
            <a:r>
              <a:t>    "problema":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200,</a:t>
            </a:r>
          </a:p>
          <a:p>
            <a:r>
              <a:t>      "max_lineas": 5,</a:t>
            </a:r>
          </a:p>
          <a:p>
            <a:r>
              <a:t>      "descripcion": "Dificultad observable y consecuencias; no adelantes el mecanismo que la resuelve.",</a:t>
            </a:r>
          </a:p>
          <a:p>
            <a:r>
              <a:t>      "marcador": "problema"</a:t>
            </a:r>
          </a:p>
          <a:p>
            <a:r>
              <a:t>    },</a:t>
            </a:r>
          </a:p>
          <a:p>
            <a:r>
              <a:t>    "pregunta":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110,</a:t>
            </a:r>
          </a:p>
          <a:p>
            <a:r>
              <a:t>      "max_lineas": 4,</a:t>
            </a:r>
          </a:p>
          <a:p>
            <a:r>
              <a:t>      "descripcion": "Pregunta concreta que orienta el razonamiento del grupo.",</a:t>
            </a:r>
          </a:p>
          <a:p>
            <a:r>
              <a:t>      "marcador": "pregunta"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"problema",</a:t>
            </a:r>
          </a:p>
          <a:p>
            <a:r>
              <a:t>    "titulo": "¿Por qué perdemos actualizaciones?",</a:t>
            </a:r>
          </a:p>
          <a:p>
            <a:r>
              <a:t>    "situacion": "Dos hilos incrementan el mismo contador de peticiones.",</a:t>
            </a:r>
          </a:p>
          <a:p>
            <a:r>
              <a:t>    "problema": "Cada hilo lee, suma y escribe.\nUna escritura puede sobrescribir el cálculo del otro hilo.",</a:t>
            </a:r>
          </a:p>
          <a:p>
            <a:r>
              <a:t>    "pregunta": "¿Cómo protegerías la operación completa, no solo la variable?"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"codigo_explicado",</a:t>
            </a:r>
          </a:p>
          <a:p>
            <a:r>
              <a:t>  "proposito": "Relacionar un fragmento de código legible con la explicación de sus decisiones y efectos.",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"codigo":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420,</a:t>
            </a:r>
          </a:p>
          <a:p>
            <a:r>
              <a:t>      "max_lineas": 11,</a:t>
            </a:r>
          </a:p>
          <a:p>
            <a:r>
              <a:t>      "descripcion": "Fragmento autocontenido, con indentación de espacios; evita líneas largas.",</a:t>
            </a:r>
          </a:p>
          <a:p>
            <a:r>
              <a:t>      "marcador": "codigo"</a:t>
            </a:r>
          </a:p>
          <a:p>
            <a:r>
              <a:t>    },</a:t>
            </a:r>
          </a:p>
          <a:p>
            <a:r>
              <a:t>    "explicacion":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200,</a:t>
            </a:r>
          </a:p>
          <a:p>
            <a:r>
              <a:t>      "max_lineas": 7,</a:t>
            </a:r>
          </a:p>
          <a:p>
            <a:r>
              <a:t>      "descripcion": "Explica el flujo y el motivo de las instrucciones; no repitas literalmente el código.",</a:t>
            </a:r>
          </a:p>
          <a:p>
            <a:r>
              <a:t>      "marcador": "explicacion"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"codigo_explicado",</a:t>
            </a:r>
          </a:p>
          <a:p>
            <a:r>
              <a:t>    "titulo": "Recuperar datos con JDBC",</a:t>
            </a:r>
          </a:p>
          <a:p>
            <a:r>
              <a:t>    "codigo": "String sql = \"SELECT nombre FROM alumno\";\ntry (var st = cn.prepareStatement(sql);\n     var rs = st.executeQuery()) {\n    while (rs.next()) {\n        System.out.println(\n            rs.getString(\"nombre\"));\n    }\n}",</a:t>
            </a:r>
          </a:p>
          <a:p>
            <a:r>
              <a:t>    "explicacion": "La conexión cn ya está abierta.\nEl statement ejecuta la consulta.\nnext() mueve el cursor.\ntry cierra los dos recursos, incluso si se lanza una excepción."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"Código en Consolas 20 pt; recomienda hasta 40 caracteres por línea. No ejecuta ni colorea el código."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"codigo_resultado",</a:t>
            </a:r>
          </a:p>
          <a:p>
            <a:r>
              <a:t>  "proposito": "Predecir la salida y contrastarla con la ejecución mental de un fragmento corto.",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"lenguaje":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24,</a:t>
            </a:r>
          </a:p>
          <a:p>
            <a:r>
              <a:t>      "max_lineas": 1,</a:t>
            </a:r>
          </a:p>
          <a:p>
            <a:r>
              <a:t>      "descripcion": "Etiqueta de lenguaje o entorno, sin efecto en el motor.",</a:t>
            </a:r>
          </a:p>
          <a:p>
            <a:r>
              <a:t>      "marcador": "lenguaje"</a:t>
            </a:r>
          </a:p>
          <a:p>
            <a:r>
              <a:t>    },</a:t>
            </a:r>
          </a:p>
          <a:p>
            <a:r>
              <a:t>    "codigo":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330,</a:t>
            </a:r>
          </a:p>
          <a:p>
            <a:r>
              <a:t>      "max_lineas": 5,</a:t>
            </a:r>
          </a:p>
          <a:p>
            <a:r>
              <a:t>      "descripcion": "Programa o consulta breve; los datos de entrada deben quedar claros.",</a:t>
            </a:r>
          </a:p>
          <a:p>
            <a:r>
              <a:t>      "marcador": "codigo"</a:t>
            </a:r>
          </a:p>
          <a:p>
            <a:r>
              <a:t>    },</a:t>
            </a:r>
          </a:p>
          <a:p>
            <a:r>
              <a:t>    "resultado":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130,</a:t>
            </a:r>
          </a:p>
          <a:p>
            <a:r>
              <a:t>      "max_lineas": 2,</a:t>
            </a:r>
          </a:p>
          <a:p>
            <a:r>
              <a:t>      "descripcion": "Salida literal, sin mezclar explicaciones dentro del bloque de resultado.",</a:t>
            </a:r>
          </a:p>
          <a:p>
            <a:r>
              <a:t>      "marcador": "resultado"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"codigo_resultado",</a:t>
            </a:r>
          </a:p>
          <a:p>
            <a:r>
              <a:t>    "titulo": "El orden importa en una lista",</a:t>
            </a:r>
          </a:p>
          <a:p>
            <a:r>
              <a:t>    "lenguaje": "JAVA 21",</a:t>
            </a:r>
          </a:p>
          <a:p>
            <a:r>
              <a:t>    "codigo": "var valores = new ArrayList&lt;Integer&gt;();\nvalores.add(10);\nvalores.add(0, 5);\nSystem.out.println(valores);",</a:t>
            </a:r>
          </a:p>
          <a:p>
            <a:r>
              <a:t>    "resultado": "[5, 10]"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"Código en Consolas 21 pt, hasta 65 columnas recomendadas; salida en Consolas 22 pt."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"comparacion",</a:t>
            </a:r>
          </a:p>
          <a:p>
            <a:r>
              <a:t>  "proposito": "Contrastar dos conceptos siguiendo el mismo criterio y evitando falsas equivalencias.",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"izquierda_titulo":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"Nombre de la primera alternativa.",</a:t>
            </a:r>
          </a:p>
          <a:p>
            <a:r>
              <a:t>      "marcador": "izquierda_titulo"</a:t>
            </a:r>
          </a:p>
          <a:p>
            <a:r>
              <a:t>    },</a:t>
            </a:r>
          </a:p>
          <a:p>
            <a:r>
              <a:t>    "izquierda_contenido":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210,</a:t>
            </a:r>
          </a:p>
          <a:p>
            <a:r>
              <a:t>      "max_lineas": 6,</a:t>
            </a:r>
          </a:p>
          <a:p>
            <a:r>
              <a:t>      "descripcion": "Características de la primera alternativa según un criterio común.",</a:t>
            </a:r>
          </a:p>
          <a:p>
            <a:r>
              <a:t>      "marcador": "izquierda_contenido"</a:t>
            </a:r>
          </a:p>
          <a:p>
            <a:r>
              <a:t>    },</a:t>
            </a:r>
          </a:p>
          <a:p>
            <a:r>
              <a:t>    "derecha_titulo":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"Nombre de la segunda alternativa.",</a:t>
            </a:r>
          </a:p>
          <a:p>
            <a:r>
              <a:t>      "marcador": "derecha_titulo"</a:t>
            </a:r>
          </a:p>
          <a:p>
            <a:r>
              <a:t>    },</a:t>
            </a:r>
          </a:p>
          <a:p>
            <a:r>
              <a:t>    "derecha_contenido":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210,</a:t>
            </a:r>
          </a:p>
          <a:p>
            <a:r>
              <a:t>      "max_lineas": 6,</a:t>
            </a:r>
          </a:p>
          <a:p>
            <a:r>
              <a:t>      "descripcion": "Características comparables con las de la columna izquierda.",</a:t>
            </a:r>
          </a:p>
          <a:p>
            <a:r>
              <a:t>      "marcador": "derecha_contenido"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"comparacion",</a:t>
            </a:r>
          </a:p>
          <a:p>
            <a:r>
              <a:t>    "titulo": "Herencia frente a composición",</a:t>
            </a:r>
          </a:p>
          <a:p>
            <a:r>
              <a:t>    "izquierda_titulo": "Herencia: es un",</a:t>
            </a:r>
          </a:p>
          <a:p>
            <a:r>
              <a:t>    "izquierda_contenido": "Una subclase especializa un tipo.\nComparte su contrato y puede redefinir comportamiento.\nEjemplo: Perro es un Animal.",</a:t>
            </a:r>
          </a:p>
          <a:p>
            <a:r>
              <a:t>    "derecha_titulo": "Composición: tiene un",</a:t>
            </a:r>
          </a:p>
          <a:p>
            <a:r>
              <a:t>    "derecha_contenido": "Un objeto colabora con otros objetos.\nDelega trabajo sin pertenecer a su jerarquía.\nEjemplo: Coche tiene un Motor."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"antes_despues",</a:t>
            </a:r>
          </a:p>
          <a:p>
            <a:r>
              <a:t>  "proposito": "Mostrar qué cambia tras una refactorización o transformación y qué propiedad se conserva.",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"antes_titulo":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36,</a:t>
            </a:r>
          </a:p>
          <a:p>
            <a:r>
              <a:t>      "max_lineas": 1,</a:t>
            </a:r>
          </a:p>
          <a:p>
            <a:r>
              <a:t>      "descripcion": "Estado de partida o limitación inicial.",</a:t>
            </a:r>
          </a:p>
          <a:p>
            <a:r>
              <a:t>      "marcador": "antes_titulo"</a:t>
            </a:r>
          </a:p>
          <a:p>
            <a:r>
              <a:t>    },</a:t>
            </a:r>
          </a:p>
          <a:p>
            <a:r>
              <a:t>    "antes_contenido":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230,</a:t>
            </a:r>
          </a:p>
          <a:p>
            <a:r>
              <a:t>      "max_lineas": 7,</a:t>
            </a:r>
          </a:p>
          <a:p>
            <a:r>
              <a:t>      "descripcion": "Código o texto del estado inicial.",</a:t>
            </a:r>
          </a:p>
          <a:p>
            <a:r>
              <a:t>      "marcador": "antes_contenido"</a:t>
            </a:r>
          </a:p>
          <a:p>
            <a:r>
              <a:t>    },</a:t>
            </a:r>
          </a:p>
          <a:p>
            <a:r>
              <a:t>    "despues_titulo":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36,</a:t>
            </a:r>
          </a:p>
          <a:p>
            <a:r>
              <a:t>      "max_lineas": 1,</a:t>
            </a:r>
          </a:p>
          <a:p>
            <a:r>
              <a:t>      "descripcion": "Estado transformado o mejora conseguida.",</a:t>
            </a:r>
          </a:p>
          <a:p>
            <a:r>
              <a:t>      "marcador": "despues_titulo"</a:t>
            </a:r>
          </a:p>
          <a:p>
            <a:r>
              <a:t>    },</a:t>
            </a:r>
          </a:p>
          <a:p>
            <a:r>
              <a:t>    "despues_contenido":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230,</a:t>
            </a:r>
          </a:p>
          <a:p>
            <a:r>
              <a:t>      "max_lineas": 7,</a:t>
            </a:r>
          </a:p>
          <a:p>
            <a:r>
              <a:t>      "descripcion": "Versión comparable con el estado inicial.",</a:t>
            </a:r>
          </a:p>
          <a:p>
            <a:r>
              <a:t>      "marcador": "despues_contenido"</a:t>
            </a:r>
          </a:p>
          <a:p>
            <a:r>
              <a:t>    },</a:t>
            </a:r>
          </a:p>
          <a:p>
            <a:r>
              <a:t>    "conclusion":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140,</a:t>
            </a:r>
          </a:p>
          <a:p>
            <a:r>
              <a:t>      "max_lineas": 2,</a:t>
            </a:r>
          </a:p>
          <a:p>
            <a:r>
              <a:t>      "descripcion": "Síntesis de la transformación y sus límites.",</a:t>
            </a:r>
          </a:p>
          <a:p>
            <a:r>
              <a:t>      "marcador": "conclusion"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"antes_despues",</a:t>
            </a:r>
          </a:p>
          <a:p>
            <a:r>
              <a:t>    "titulo": "Separar una decisión de su resultado",</a:t>
            </a:r>
          </a:p>
          <a:p>
            <a:r>
              <a:t>    "antes_titulo": "Condición repetida",</a:t>
            </a:r>
          </a:p>
          <a:p>
            <a:r>
              <a:t>    "antes_contenido": "if (edad &gt;= 18) {\n    permitirAcceso();\n}\nif (edad &gt;= 18) {\n    mostrarPanel();\n}",</a:t>
            </a:r>
          </a:p>
          <a:p>
            <a:r>
              <a:t>    "despues_titulo": "Intención explícita",</a:t>
            </a:r>
          </a:p>
          <a:p>
            <a:r>
              <a:t>    "despues_contenido": "boolean esMayor = edad &gt;= 18;\nif (esMayor) {\n    permitirAcceso();\n    mostrarPanel();\n}",</a:t>
            </a:r>
          </a:p>
          <a:p>
            <a:r>
              <a:t>    "conclusion": "El nombre expresa la intención; comprueba que agrupar las acciones conserva el comportamiento."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"Ambos bloques usan Consolas 19 pt; hasta 33 caracteres por línea recomendados."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"error_correccion",</a:t>
            </a:r>
          </a:p>
          <a:p>
            <a:r>
              <a:t>  "proposito": "Identificar un error concreto, explicar su causa y mostrar la corrección mínima.",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"codigo_error":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230,</a:t>
            </a:r>
          </a:p>
          <a:p>
            <a:r>
              <a:t>      "max_lineas": 7,</a:t>
            </a:r>
          </a:p>
          <a:p>
            <a:r>
              <a:t>      "descripcion": "Fragmento incorrecto, sin ambigüedad sobre la línea que falla.",</a:t>
            </a:r>
          </a:p>
          <a:p>
            <a:r>
              <a:t>      "marcador": "codigo_error"</a:t>
            </a:r>
          </a:p>
          <a:p>
            <a:r>
              <a:t>    },</a:t>
            </a:r>
          </a:p>
          <a:p>
            <a:r>
              <a:t>    "codigo_correcto":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230,</a:t>
            </a:r>
          </a:p>
          <a:p>
            <a:r>
              <a:t>      "max_lineas": 7,</a:t>
            </a:r>
          </a:p>
          <a:p>
            <a:r>
              <a:t>      "descripcion": "Corrección del mismo ejemplo, no un programa distinto.",</a:t>
            </a:r>
          </a:p>
          <a:p>
            <a:r>
              <a:t>      "marcador": "codigo_correcto"</a:t>
            </a:r>
          </a:p>
          <a:p>
            <a:r>
              <a:t>    },</a:t>
            </a:r>
          </a:p>
          <a:p>
            <a:r>
              <a:t>    "explicacion":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150,</a:t>
            </a:r>
          </a:p>
          <a:p>
            <a:r>
              <a:t>      "max_lineas": 2,</a:t>
            </a:r>
          </a:p>
          <a:p>
            <a:r>
              <a:t>      "descripcion": "Causa del error y principio que evita repetirlo.",</a:t>
            </a:r>
          </a:p>
          <a:p>
            <a:r>
              <a:t>      "marcador": "explicacion"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"error_correccion",</a:t>
            </a:r>
          </a:p>
          <a:p>
            <a:r>
              <a:t>    "titulo": "Un tipo incompatible no se convierte solo",</a:t>
            </a:r>
          </a:p>
          <a:p>
            <a:r>
              <a:t>    "codigo_error": "String edadTexto = \"18\";\nint edad = edadTexto;\n// Error de compilación",</a:t>
            </a:r>
          </a:p>
          <a:p>
            <a:r>
              <a:t>    "codigo_correcto": "String edadTexto = \"18\";\nint edad =\n    Integer.parseInt(edadTexto);",</a:t>
            </a:r>
          </a:p>
          <a:p>
            <a:r>
              <a:t>    "explicacion": "String e int son tipos distintos. parseInt interpreta el texto y puede fallar si no representa un entero."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"Código en Consolas 19 pt; hasta 34 caracteres por línea recomendados."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"pasos",</a:t>
            </a:r>
          </a:p>
          <a:p>
            <a:r>
              <a:t>  "proposito": "Explicar un procedimiento de tres a cinco acciones secuenciales sin ocultar sus comprobaciones.",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"paso_1":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120,</a:t>
            </a:r>
          </a:p>
          <a:p>
            <a:r>
              <a:t>      "max_lineas": 2,</a:t>
            </a:r>
          </a:p>
          <a:p>
            <a:r>
              <a:t>      "descripcion": "Acción 1: comienza con un verbo y describe un resultado verificable.",</a:t>
            </a:r>
          </a:p>
          <a:p>
            <a:r>
              <a:t>      "marcador": "paso_1"</a:t>
            </a:r>
          </a:p>
          <a:p>
            <a:r>
              <a:t>    },</a:t>
            </a:r>
          </a:p>
          <a:p>
            <a:r>
              <a:t>    "paso_2":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120,</a:t>
            </a:r>
          </a:p>
          <a:p>
            <a:r>
              <a:t>      "max_lineas": 2,</a:t>
            </a:r>
          </a:p>
          <a:p>
            <a:r>
              <a:t>      "descripcion": "Acción 2: comienza con un verbo y describe un resultado verificable.",</a:t>
            </a:r>
          </a:p>
          <a:p>
            <a:r>
              <a:t>      "marcador": "paso_2"</a:t>
            </a:r>
          </a:p>
          <a:p>
            <a:r>
              <a:t>    },</a:t>
            </a:r>
          </a:p>
          <a:p>
            <a:r>
              <a:t>    "paso_3":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120,</a:t>
            </a:r>
          </a:p>
          <a:p>
            <a:r>
              <a:t>      "max_lineas": 2,</a:t>
            </a:r>
          </a:p>
          <a:p>
            <a:r>
              <a:t>      "descripcion": "Acción 3: comienza con un verbo y describe un resultado verificable.",</a:t>
            </a:r>
          </a:p>
          <a:p>
            <a:r>
              <a:t>      "marcador": "paso_3"</a:t>
            </a:r>
          </a:p>
          <a:p>
            <a:r>
              <a:t>    },</a:t>
            </a:r>
          </a:p>
          <a:p>
            <a:r>
              <a:t>    "paso_4":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120,</a:t>
            </a:r>
          </a:p>
          <a:p>
            <a:r>
              <a:t>      "max_lineas": 2,</a:t>
            </a:r>
          </a:p>
          <a:p>
            <a:r>
              <a:t>      "descripcion": "Acción 4: comienza con un verbo y describe un resultado verificable.",</a:t>
            </a:r>
          </a:p>
          <a:p>
            <a:r>
              <a:t>      "marcador": "paso_4"</a:t>
            </a:r>
          </a:p>
          <a:p>
            <a:r>
              <a:t>    },</a:t>
            </a:r>
          </a:p>
          <a:p>
            <a:r>
              <a:t>    "paso_5":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120,</a:t>
            </a:r>
          </a:p>
          <a:p>
            <a:r>
              <a:t>      "max_lineas": 2,</a:t>
            </a:r>
          </a:p>
          <a:p>
            <a:r>
              <a:t>      "descripcion": "Acción 5: comienza con un verbo y describe un resultado verificable.",</a:t>
            </a:r>
          </a:p>
          <a:p>
            <a:r>
              <a:t>      "marcador": "paso_5"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"pasos",</a:t>
            </a:r>
          </a:p>
          <a:p>
            <a:r>
              <a:t>    "titulo": "De un cambio local a una entrega revisada",</a:t>
            </a:r>
          </a:p>
          <a:p>
            <a:r>
              <a:t>    "paso_1": "Revisa los cambios con git diff y ejecuta las pruebas.",</a:t>
            </a:r>
          </a:p>
          <a:p>
            <a:r>
              <a:t>    "paso_2": "Añade únicamente los archivos pertinentes con git add.",</a:t>
            </a:r>
          </a:p>
          <a:p>
            <a:r>
              <a:t>    "paso_3": "Crea un commit con un mensaje que explique la intención.",</a:t>
            </a:r>
          </a:p>
          <a:p>
            <a:r>
              <a:t>    "paso_4": "Publica la rama y abre una solicitud de integración.",</a:t>
            </a:r>
          </a:p>
          <a:p>
            <a:r>
              <a:t>    "paso_5": "Comprueba la revisión y el resultado de CI antes de integrar."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"Cinco filas fijas numeradas. Los pasos 1–3 son obligatorios; 4–5 son opcionales y dejan la fila vacía al omitirse.",</a:t>
            </a:r>
          </a:p>
          <a:p>
            <a:r>
              <a:t>    "No cambia el número de filas ni renumera pasos. Para tres pasos deja vacíos ambos últimos; no omitas uno intermedio."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"tabla",</a:t>
            </a:r>
          </a:p>
          <a:p>
            <a:r>
              <a:t>  "proposito": "Explicar datos o correspondencias mediante una tabla nativa editable de estructura constante.",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"encabezado_1":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32,</a:t>
            </a:r>
          </a:p>
          <a:p>
            <a:r>
              <a:t>      "max_lineas": 2,</a:t>
            </a:r>
          </a:p>
          <a:p>
            <a:r>
              <a:t>      "descripcion": "Cabecera de la columna 1.",</a:t>
            </a:r>
          </a:p>
          <a:p>
            <a:r>
              <a:t>      "marcador": "encabezado_1"</a:t>
            </a:r>
          </a:p>
          <a:p>
            <a:r>
              <a:t>    },</a:t>
            </a:r>
          </a:p>
          <a:p>
            <a:r>
              <a:t>    "encabezado_2":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32,</a:t>
            </a:r>
          </a:p>
          <a:p>
            <a:r>
              <a:t>      "max_lineas": 2,</a:t>
            </a:r>
          </a:p>
          <a:p>
            <a:r>
              <a:t>      "descripcion": "Cabecera de la columna 2.",</a:t>
            </a:r>
          </a:p>
          <a:p>
            <a:r>
              <a:t>      "marcador": "encabezado_2"</a:t>
            </a:r>
          </a:p>
          <a:p>
            <a:r>
              <a:t>    },</a:t>
            </a:r>
          </a:p>
          <a:p>
            <a:r>
              <a:t>    "encabezado_3":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32,</a:t>
            </a:r>
          </a:p>
          <a:p>
            <a:r>
              <a:t>      "max_lineas": 2,</a:t>
            </a:r>
          </a:p>
          <a:p>
            <a:r>
              <a:t>      "descripcion": "Cabecera de la columna 3.",</a:t>
            </a:r>
          </a:p>
          <a:p>
            <a:r>
              <a:t>      "marcador": "encabezado_3"</a:t>
            </a:r>
          </a:p>
          <a:p>
            <a:r>
              <a:t>    },</a:t>
            </a:r>
          </a:p>
          <a:p>
            <a:r>
              <a:t>    "fila_1_col_1":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1, columna 1; dos líneas como máximo.",</a:t>
            </a:r>
          </a:p>
          <a:p>
            <a:r>
              <a:t>      "marcador": "fila_1_col_1"</a:t>
            </a:r>
          </a:p>
          <a:p>
            <a:r>
              <a:t>    },</a:t>
            </a:r>
          </a:p>
          <a:p>
            <a:r>
              <a:t>    "fila_1_col_2":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1, columna 2; dos líneas como máximo.",</a:t>
            </a:r>
          </a:p>
          <a:p>
            <a:r>
              <a:t>      "marcador": "fila_1_col_2"</a:t>
            </a:r>
          </a:p>
          <a:p>
            <a:r>
              <a:t>    },</a:t>
            </a:r>
          </a:p>
          <a:p>
            <a:r>
              <a:t>    "fila_1_col_3":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1, columna 3; dos líneas como máximo.",</a:t>
            </a:r>
          </a:p>
          <a:p>
            <a:r>
              <a:t>      "marcador": "fila_1_col_3"</a:t>
            </a:r>
          </a:p>
          <a:p>
            <a:r>
              <a:t>    },</a:t>
            </a:r>
          </a:p>
          <a:p>
            <a:r>
              <a:t>    "fila_2_col_1":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2, columna 1; dos líneas como máximo.",</a:t>
            </a:r>
          </a:p>
          <a:p>
            <a:r>
              <a:t>      "marcador": "fila_2_col_1"</a:t>
            </a:r>
          </a:p>
          <a:p>
            <a:r>
              <a:t>    },</a:t>
            </a:r>
          </a:p>
          <a:p>
            <a:r>
              <a:t>    "fila_2_col_2":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2, columna 2; dos líneas como máximo.",</a:t>
            </a:r>
          </a:p>
          <a:p>
            <a:r>
              <a:t>      "marcador": "fila_2_col_2"</a:t>
            </a:r>
          </a:p>
          <a:p>
            <a:r>
              <a:t>    },</a:t>
            </a:r>
          </a:p>
          <a:p>
            <a:r>
              <a:t>    "fila_2_col_3":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2, columna 3; dos líneas como máximo.",</a:t>
            </a:r>
          </a:p>
          <a:p>
            <a:r>
              <a:t>      "marcador": "fila_2_col_3"</a:t>
            </a:r>
          </a:p>
          <a:p>
            <a:r>
              <a:t>    },</a:t>
            </a:r>
          </a:p>
          <a:p>
            <a:r>
              <a:t>    "fila_3_col_1":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3, columna 1; dos líneas como máximo.",</a:t>
            </a:r>
          </a:p>
          <a:p>
            <a:r>
              <a:t>      "marcador": "fila_3_col_1"</a:t>
            </a:r>
          </a:p>
          <a:p>
            <a:r>
              <a:t>    },</a:t>
            </a:r>
          </a:p>
          <a:p>
            <a:r>
              <a:t>    "fila_3_col_2":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3, columna 2; dos líneas como máximo.",</a:t>
            </a:r>
          </a:p>
          <a:p>
            <a:r>
              <a:t>      "marcador": "fila_3_col_2"</a:t>
            </a:r>
          </a:p>
          <a:p>
            <a:r>
              <a:t>    },</a:t>
            </a:r>
          </a:p>
          <a:p>
            <a:r>
              <a:t>    "fila_3_col_3":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3, columna 3; dos líneas como máximo.",</a:t>
            </a:r>
          </a:p>
          <a:p>
            <a:r>
              <a:t>      "marcador": "fila_3_col_3"</a:t>
            </a:r>
          </a:p>
          <a:p>
            <a:r>
              <a:t>    },</a:t>
            </a:r>
          </a:p>
          <a:p>
            <a:r>
              <a:t>    "fila_4_col_1":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4, columna 1; dos líneas como máximo.",</a:t>
            </a:r>
          </a:p>
          <a:p>
            <a:r>
              <a:t>      "marcador": "fila_4_col_1"</a:t>
            </a:r>
          </a:p>
          <a:p>
            <a:r>
              <a:t>    },</a:t>
            </a:r>
          </a:p>
          <a:p>
            <a:r>
              <a:t>    "fila_4_col_2":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4, columna 2; dos líneas como máximo.",</a:t>
            </a:r>
          </a:p>
          <a:p>
            <a:r>
              <a:t>      "marcador": "fila_4_col_2"</a:t>
            </a:r>
          </a:p>
          <a:p>
            <a:r>
              <a:t>    },</a:t>
            </a:r>
          </a:p>
          <a:p>
            <a:r>
              <a:t>    "fila_4_col_3":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42,</a:t>
            </a:r>
          </a:p>
          <a:p>
            <a:r>
              <a:t>      "max_lineas": 2,</a:t>
            </a:r>
          </a:p>
          <a:p>
            <a:r>
              <a:t>      "descripcion": "Texto de la fila 4, columna 3; dos líneas como máximo.",</a:t>
            </a:r>
          </a:p>
          <a:p>
            <a:r>
              <a:t>      "marcador": "fila_4_col_3"</a:t>
            </a:r>
          </a:p>
          <a:p>
            <a:r>
              <a:t>    },</a:t>
            </a:r>
          </a:p>
          <a:p>
            <a:r>
              <a:t>    "nota":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100,</a:t>
            </a:r>
          </a:p>
          <a:p>
            <a:r>
              <a:t>      "max_lineas": 1,</a:t>
            </a:r>
          </a:p>
          <a:p>
            <a:r>
              <a:t>      "descripcion": "Aclaración de lectura, no una fila adicional.",</a:t>
            </a:r>
          </a:p>
          <a:p>
            <a:r>
              <a:t>      "marcador": "nota"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"tabla",</a:t>
            </a:r>
          </a:p>
          <a:p>
            <a:r>
              <a:t>    "titulo": "Una clave foránea relaciona filas",</a:t>
            </a:r>
          </a:p>
          <a:p>
            <a:r>
              <a:t>    "encabezado_1": "Columna",</a:t>
            </a:r>
          </a:p>
          <a:p>
            <a:r>
              <a:t>    "encabezado_2": "Tipo SQL",</a:t>
            </a:r>
          </a:p>
          <a:p>
            <a:r>
              <a:t>    "encabezado_3": "Restricción",</a:t>
            </a:r>
          </a:p>
          <a:p>
            <a:r>
              <a:t>    "fila_1_col_1": "id",</a:t>
            </a:r>
          </a:p>
          <a:p>
            <a:r>
              <a:t>    "fila_1_col_2": "INTEGER",</a:t>
            </a:r>
          </a:p>
          <a:p>
            <a:r>
              <a:t>    "fila_1_col_3": "PRIMARY KEY",</a:t>
            </a:r>
          </a:p>
          <a:p>
            <a:r>
              <a:t>    "fila_2_col_1": "alumno_id",</a:t>
            </a:r>
          </a:p>
          <a:p>
            <a:r>
              <a:t>    "fila_2_col_2": "INTEGER",</a:t>
            </a:r>
          </a:p>
          <a:p>
            <a:r>
              <a:t>    "fila_2_col_3": "FK a alumno(id)",</a:t>
            </a:r>
          </a:p>
          <a:p>
            <a:r>
              <a:t>    "fila_3_col_1": "curso_id",</a:t>
            </a:r>
          </a:p>
          <a:p>
            <a:r>
              <a:t>    "fila_3_col_2": "INTEGER",</a:t>
            </a:r>
          </a:p>
          <a:p>
            <a:r>
              <a:t>    "fila_3_col_3": "FK a curso(id)",</a:t>
            </a:r>
          </a:p>
          <a:p>
            <a:r>
              <a:t>    "fila_4_col_1": "nota",</a:t>
            </a:r>
          </a:p>
          <a:p>
            <a:r>
              <a:t>    "fila_4_col_2": "DECIMAL(4,2)",</a:t>
            </a:r>
          </a:p>
          <a:p>
            <a:r>
              <a:t>    "fila_4_col_3": "CHECK entre 0 y 10",</a:t>
            </a:r>
          </a:p>
          <a:p>
            <a:r>
              <a:t>    "nota": "Ejemplo de una tabla matricula: cada clave foránea referencia una clave de otra tabla."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"Tabla fija de tres columnas, una cabecera y cuatro filas de datos. Todas las celdas son campos de texto obligatorios.",</a:t>
            </a:r>
          </a:p>
          <a:p>
            <a:r>
              <a:t>    "No admite listas JSON, inserción de filas ni celdas combinadas. Celdas Aptos 20 pt; recomienda hasta 26 caracteres por línea."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"diagrama_flujo",</a:t>
            </a:r>
          </a:p>
          <a:p>
            <a:r>
              <a:t>  "proposito": "Representar una secuencia lineal de cuatro etapas con cajas y conectores nativos editables.",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"contexto":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140,</a:t>
            </a:r>
          </a:p>
          <a:p>
            <a:r>
              <a:t>      "max_lineas": 2,</a:t>
            </a:r>
          </a:p>
          <a:p>
            <a:r>
              <a:t>      "descripcion": "Entrada o contexto necesario para interpretar el proceso.",</a:t>
            </a:r>
          </a:p>
          <a:p>
            <a:r>
              <a:t>      "marcador": "contexto"</a:t>
            </a:r>
          </a:p>
          <a:p>
            <a:r>
              <a:t>    },</a:t>
            </a:r>
          </a:p>
          <a:p>
            <a:r>
              <a:t>    "etapa_1":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26,</a:t>
            </a:r>
          </a:p>
          <a:p>
            <a:r>
              <a:t>      "max_lineas": 2,</a:t>
            </a:r>
          </a:p>
          <a:p>
            <a:r>
              <a:t>      "descripcion": "Nombre y resultado breve de la etapa 1.",</a:t>
            </a:r>
          </a:p>
          <a:p>
            <a:r>
              <a:t>      "marcador": "etapa_1"</a:t>
            </a:r>
          </a:p>
          <a:p>
            <a:r>
              <a:t>    },</a:t>
            </a:r>
          </a:p>
          <a:p>
            <a:r>
              <a:t>    "etapa_2":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26,</a:t>
            </a:r>
          </a:p>
          <a:p>
            <a:r>
              <a:t>      "max_lineas": 2,</a:t>
            </a:r>
          </a:p>
          <a:p>
            <a:r>
              <a:t>      "descripcion": "Nombre y resultado breve de la etapa 2.",</a:t>
            </a:r>
          </a:p>
          <a:p>
            <a:r>
              <a:t>      "marcador": "etapa_2"</a:t>
            </a:r>
          </a:p>
          <a:p>
            <a:r>
              <a:t>    },</a:t>
            </a:r>
          </a:p>
          <a:p>
            <a:r>
              <a:t>    "etapa_3":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26,</a:t>
            </a:r>
          </a:p>
          <a:p>
            <a:r>
              <a:t>      "max_lineas": 2,</a:t>
            </a:r>
          </a:p>
          <a:p>
            <a:r>
              <a:t>      "descripcion": "Nombre y resultado breve de la etapa 3.",</a:t>
            </a:r>
          </a:p>
          <a:p>
            <a:r>
              <a:t>      "marcador": "etapa_3"</a:t>
            </a:r>
          </a:p>
          <a:p>
            <a:r>
              <a:t>    },</a:t>
            </a:r>
          </a:p>
          <a:p>
            <a:r>
              <a:t>    "etapa_4":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26,</a:t>
            </a:r>
          </a:p>
          <a:p>
            <a:r>
              <a:t>      "max_lineas": 2,</a:t>
            </a:r>
          </a:p>
          <a:p>
            <a:r>
              <a:t>      "descripcion": "Nombre y resultado breve de la etapa 4.",</a:t>
            </a:r>
          </a:p>
          <a:p>
            <a:r>
              <a:t>      "marcador": "etapa_4"</a:t>
            </a:r>
          </a:p>
          <a:p>
            <a:r>
              <a:t>    },</a:t>
            </a:r>
          </a:p>
          <a:p>
            <a:r>
              <a:t>    "conclusion":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160,</a:t>
            </a:r>
          </a:p>
          <a:p>
            <a:r>
              <a:t>      "max_lineas": 2,</a:t>
            </a:r>
          </a:p>
          <a:p>
            <a:r>
              <a:t>      "descripcion": "Idea final sobre el flujo, sus dependencias o su resultado.",</a:t>
            </a:r>
          </a:p>
          <a:p>
            <a:r>
              <a:t>      "marcador": "conclusion"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"diagrama_flujo",</a:t>
            </a:r>
          </a:p>
          <a:p>
            <a:r>
              <a:t>    "titulo": "Del fuente al programa en ejecución",</a:t>
            </a:r>
          </a:p>
          <a:p>
            <a:r>
              <a:t>    "contexto": "El compilador y la máquina virtual cumplen funciones distintas.",</a:t>
            </a:r>
          </a:p>
          <a:p>
            <a:r>
              <a:t>    "etapa_1": "Fuente\n.java",</a:t>
            </a:r>
          </a:p>
          <a:p>
            <a:r>
              <a:t>    "etapa_2": "Compilar\njavac",</a:t>
            </a:r>
          </a:p>
          <a:p>
            <a:r>
              <a:t>    "etapa_3": "Bytecode\n.class",</a:t>
            </a:r>
          </a:p>
          <a:p>
            <a:r>
              <a:t>    "etapa_4": "Ejecutar\nJVM",</a:t>
            </a:r>
          </a:p>
          <a:p>
            <a:r>
              <a:t>    "conclusion": "Compilar comprueba y transforma el fuente; ejecutar pone en marcha el bytecode."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"Cuatro etapas obligatorias y tres flechas izquierda → derecha. No admite decisiones, bucles ni topología variable.",</a:t>
            </a:r>
          </a:p>
          <a:p>
            <a:r>
              <a:t>    "Las cajas, textos y conectores están desagrupados. Para otro número de etapas diseña otro tipo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"relaciones_clases",</a:t>
            </a:r>
          </a:p>
          <a:p>
            <a:r>
              <a:t>  "proposito": "Explicar una jerarquía pequeña: dos clases especializan una base común y comparten un contrato.",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"clase_base":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28,</a:t>
            </a:r>
          </a:p>
          <a:p>
            <a:r>
              <a:t>      "max_lineas": 1,</a:t>
            </a:r>
          </a:p>
          <a:p>
            <a:r>
              <a:t>      "descripcion": "Nombre de la clase base; sin lista de clases.",</a:t>
            </a:r>
          </a:p>
          <a:p>
            <a:r>
              <a:t>      "marcador": "clase_base"</a:t>
            </a:r>
          </a:p>
          <a:p>
            <a:r>
              <a:t>    },</a:t>
            </a:r>
          </a:p>
          <a:p>
            <a:r>
              <a:t>    "miembros_base":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54,</a:t>
            </a:r>
          </a:p>
          <a:p>
            <a:r>
              <a:t>      "max_lineas": 2,</a:t>
            </a:r>
          </a:p>
          <a:p>
            <a:r>
              <a:t>      "descripcion": "Dos atributos u operaciones significativos de la clase base.",</a:t>
            </a:r>
          </a:p>
          <a:p>
            <a:r>
              <a:t>      "marcador": "miembros_base"</a:t>
            </a:r>
          </a:p>
          <a:p>
            <a:r>
              <a:t>    },</a:t>
            </a:r>
          </a:p>
          <a:p>
            <a:r>
              <a:t>    "clase_izquierda":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28,</a:t>
            </a:r>
          </a:p>
          <a:p>
            <a:r>
              <a:t>      "max_lineas": 1,</a:t>
            </a:r>
          </a:p>
          <a:p>
            <a:r>
              <a:t>      "descripcion": "Nombre de la clase izquierda; sin lista de clases.",</a:t>
            </a:r>
          </a:p>
          <a:p>
            <a:r>
              <a:t>      "marcador": "clase_izquierda"</a:t>
            </a:r>
          </a:p>
          <a:p>
            <a:r>
              <a:t>    },</a:t>
            </a:r>
          </a:p>
          <a:p>
            <a:r>
              <a:t>    "miembros_izquierda":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64,</a:t>
            </a:r>
          </a:p>
          <a:p>
            <a:r>
              <a:t>      "max_lineas": 2,</a:t>
            </a:r>
          </a:p>
          <a:p>
            <a:r>
              <a:t>      "descripcion": "Dos atributos u operaciones significativos de la clase izquierda.",</a:t>
            </a:r>
          </a:p>
          <a:p>
            <a:r>
              <a:t>      "marcador": "miembros_izquierda"</a:t>
            </a:r>
          </a:p>
          <a:p>
            <a:r>
              <a:t>    },</a:t>
            </a:r>
          </a:p>
          <a:p>
            <a:r>
              <a:t>    "clase_derecha":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28,</a:t>
            </a:r>
          </a:p>
          <a:p>
            <a:r>
              <a:t>      "max_lineas": 1,</a:t>
            </a:r>
          </a:p>
          <a:p>
            <a:r>
              <a:t>      "descripcion": "Nombre de la clase derecha; sin lista de clases.",</a:t>
            </a:r>
          </a:p>
          <a:p>
            <a:r>
              <a:t>      "marcador": "clase_derecha"</a:t>
            </a:r>
          </a:p>
          <a:p>
            <a:r>
              <a:t>    },</a:t>
            </a:r>
          </a:p>
          <a:p>
            <a:r>
              <a:t>    "miembros_derecha":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64,</a:t>
            </a:r>
          </a:p>
          <a:p>
            <a:r>
              <a:t>      "max_lineas": 2,</a:t>
            </a:r>
          </a:p>
          <a:p>
            <a:r>
              <a:t>      "descripcion": "Dos atributos u operaciones significativos de la clase derecha.",</a:t>
            </a:r>
          </a:p>
          <a:p>
            <a:r>
              <a:t>      "marcador": "miembros_derecha"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"relaciones_clases",</a:t>
            </a:r>
          </a:p>
          <a:p>
            <a:r>
              <a:t>    "titulo": "Una base común, comportamientos distintos",</a:t>
            </a:r>
          </a:p>
          <a:p>
            <a:r>
              <a:t>    "clase_base": "Animal",</a:t>
            </a:r>
          </a:p>
          <a:p>
            <a:r>
              <a:t>    "miembros_base": "+ nombre: String\n+ emitirSonido(): void",</a:t>
            </a:r>
          </a:p>
          <a:p>
            <a:r>
              <a:t>    "clase_izquierda": "Perro",</a:t>
            </a:r>
          </a:p>
          <a:p>
            <a:r>
              <a:t>    "miembros_izquierda": "+ emitirSonido(): void\n+ traerPelota(): void",</a:t>
            </a:r>
          </a:p>
          <a:p>
            <a:r>
              <a:t>    "clase_derecha": "Gato",</a:t>
            </a:r>
          </a:p>
          <a:p>
            <a:r>
              <a:t>    "miembros_derecha": "+ emitirSonido(): void\n+ trepar(): void"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"Jerarquía fija de tres clases: las dos inferiores heredan de la superior. Las flechas apuntan a la base.",</a:t>
            </a:r>
          </a:p>
          <a:p>
            <a:r>
              <a:t>    "Esquema didáctico con flechas sólidas, no notación UML completa. No representa composición ni multiplicidades.",</a:t>
            </a:r>
          </a:p>
          <a:p>
            <a:r>
              <a:t>    "Miembros en Consolas 18 pt: hasta 27 caracteres por línea en la base y 32 en las especializaciones. No genera cajas ni relaciones adicionales."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"caso_practico",</a:t>
            </a:r>
          </a:p>
          <a:p>
            <a:r>
              <a:t>  "proposito": "Plantear una tarea aplicable con contexto, requisitos observables y un criterio de éxito.",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"contexto":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180,</a:t>
            </a:r>
          </a:p>
          <a:p>
            <a:r>
              <a:t>      "max_lineas": 7,</a:t>
            </a:r>
          </a:p>
          <a:p>
            <a:r>
              <a:t>      "descripcion": "Situación, usuarios y necesidad real; no presupongas tecnología no explicada.",</a:t>
            </a:r>
          </a:p>
          <a:p>
            <a:r>
              <a:t>      "marcador": "contexto"</a:t>
            </a:r>
          </a:p>
          <a:p>
            <a:r>
              <a:t>    },</a:t>
            </a:r>
          </a:p>
          <a:p>
            <a:r>
              <a:t>    "requisitos":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260,</a:t>
            </a:r>
          </a:p>
          <a:p>
            <a:r>
              <a:t>      "max_lineas": 6,</a:t>
            </a:r>
          </a:p>
          <a:p>
            <a:r>
              <a:t>      "descripcion": "Condiciones verificables separadas por saltos; no uses una lista JSON.",</a:t>
            </a:r>
          </a:p>
          <a:p>
            <a:r>
              <a:t>      "marcador": "requisitos"</a:t>
            </a:r>
          </a:p>
          <a:p>
            <a:r>
              <a:t>    },</a:t>
            </a:r>
          </a:p>
          <a:p>
            <a:r>
              <a:t>    "objetivo":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90,</a:t>
            </a:r>
          </a:p>
          <a:p>
            <a:r>
              <a:t>      "max_lineas": 2,</a:t>
            </a:r>
          </a:p>
          <a:p>
            <a:r>
              <a:t>      "descripcion": "Qué podrá demostrarse al terminar, no una solución completa.",</a:t>
            </a:r>
          </a:p>
          <a:p>
            <a:r>
              <a:t>      "marcador": "objetivo"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"caso_practico",</a:t>
            </a:r>
          </a:p>
          <a:p>
            <a:r>
              <a:t>    "titulo": "Guardar pedidos sin perder sus líneas",</a:t>
            </a:r>
          </a:p>
          <a:p>
            <a:r>
              <a:t>    "contexto": "Una tienda registra un pedido y sus líneas en tablas distintas.\nUn fallo no debe dejar medio pedido guardado.",</a:t>
            </a:r>
          </a:p>
          <a:p>
            <a:r>
              <a:t>    "requisitos": "Insertar cabecera y líneas en una transacción.\nConfirmar solo si todas las operaciones terminan.\nDeshacer los cambios ante un error.\nCerrar los recursos JDBC.",</a:t>
            </a:r>
          </a:p>
          <a:p>
            <a:r>
              <a:t>    "objetivo": "Demostrar que un fallo en una línea no deja datos parciales."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"advertencia",</a:t>
            </a:r>
          </a:p>
          <a:p>
            <a:r>
              <a:t>  "proposito": "Prevenir un error frecuente explicando su causa y una práctica alternativa concreta.",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"error":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110,</a:t>
            </a:r>
          </a:p>
          <a:p>
            <a:r>
              <a:t>      "max_lineas": 2,</a:t>
            </a:r>
          </a:p>
          <a:p>
            <a:r>
              <a:t>      "descripcion": "Conducta o idea equivocada descrita sin culpabilizar al alumno.",</a:t>
            </a:r>
          </a:p>
          <a:p>
            <a:r>
              <a:t>      "marcador": "error"</a:t>
            </a:r>
          </a:p>
          <a:p>
            <a:r>
              <a:t>    },</a:t>
            </a:r>
          </a:p>
          <a:p>
            <a:r>
              <a:t>    "motivo":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110,</a:t>
            </a:r>
          </a:p>
          <a:p>
            <a:r>
              <a:t>      "max_lineas": 2,</a:t>
            </a:r>
          </a:p>
          <a:p>
            <a:r>
              <a:t>      "descripcion": "Consecuencia y causa técnica que justifican la advertencia.",</a:t>
            </a:r>
          </a:p>
          <a:p>
            <a:r>
              <a:t>      "marcador": "motivo"</a:t>
            </a:r>
          </a:p>
          <a:p>
            <a:r>
              <a:t>    },</a:t>
            </a:r>
          </a:p>
          <a:p>
            <a:r>
              <a:t>    "recomendacion":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110,</a:t>
            </a:r>
          </a:p>
          <a:p>
            <a:r>
              <a:t>      "max_lineas": 2,</a:t>
            </a:r>
          </a:p>
          <a:p>
            <a:r>
              <a:t>      "descripcion": "Acción concreta y realizable que evita el problema.",</a:t>
            </a:r>
          </a:p>
          <a:p>
            <a:r>
              <a:t>      "marcador": "recomendacion"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"advertencia",</a:t>
            </a:r>
          </a:p>
          <a:p>
            <a:r>
              <a:t>    "titulo": "Capturar una excepción no es resolverla",</a:t>
            </a:r>
          </a:p>
          <a:p>
            <a:r>
              <a:t>    "error": "Usar un catch vacío para que el programa continúe.",</a:t>
            </a:r>
          </a:p>
          <a:p>
            <a:r>
              <a:t>    "motivo": "El fallo desaparece de la vista, pero el estado puede quedar incompleto y la causa sin registrar.",</a:t>
            </a:r>
          </a:p>
          <a:p>
            <a:r>
              <a:t>    "recomendacion": "Captura solo lo que puedas tratar. Informa del contexto y conserva la causa al propagar."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"resumen",</a:t>
            </a:r>
          </a:p>
          <a:p>
            <a:r>
              <a:t>  "proposito": "Cerrar una explicación con tres ideas conectadas y un principio transferible a otros problemas.",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"idea_1":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120,</a:t>
            </a:r>
          </a:p>
          <a:p>
            <a:r>
              <a:t>      "max_lineas": 3,</a:t>
            </a:r>
          </a:p>
          <a:p>
            <a:r>
              <a:t>      "descripcion": "Idea clave 1, expresada como una afirmación comprensible.",</a:t>
            </a:r>
          </a:p>
          <a:p>
            <a:r>
              <a:t>      "marcador": "idea_1"</a:t>
            </a:r>
          </a:p>
          <a:p>
            <a:r>
              <a:t>    },</a:t>
            </a:r>
          </a:p>
          <a:p>
            <a:r>
              <a:t>    "idea_2":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120,</a:t>
            </a:r>
          </a:p>
          <a:p>
            <a:r>
              <a:t>      "max_lineas": 3,</a:t>
            </a:r>
          </a:p>
          <a:p>
            <a:r>
              <a:t>      "descripcion": "Idea clave 2, expresada como una afirmación comprensible.",</a:t>
            </a:r>
          </a:p>
          <a:p>
            <a:r>
              <a:t>      "marcador": "idea_2"</a:t>
            </a:r>
          </a:p>
          <a:p>
            <a:r>
              <a:t>    },</a:t>
            </a:r>
          </a:p>
          <a:p>
            <a:r>
              <a:t>    "idea_3":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120,</a:t>
            </a:r>
          </a:p>
          <a:p>
            <a:r>
              <a:t>      "max_lineas": 3,</a:t>
            </a:r>
          </a:p>
          <a:p>
            <a:r>
              <a:t>      "descripcion": "Idea clave 3, expresada como una afirmación comprensible.",</a:t>
            </a:r>
          </a:p>
          <a:p>
            <a:r>
              <a:t>      "marcador": "idea_3"</a:t>
            </a:r>
          </a:p>
          <a:p>
            <a:r>
              <a:t>    },</a:t>
            </a:r>
          </a:p>
          <a:p>
            <a:r>
              <a:t>    "recuerda":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90,</a:t>
            </a:r>
          </a:p>
          <a:p>
            <a:r>
              <a:t>      "max_lineas": 5,</a:t>
            </a:r>
          </a:p>
          <a:p>
            <a:r>
              <a:t>      "descripcion": "Principio breve que conecta las tres ideas y orienta su aplicación.",</a:t>
            </a:r>
          </a:p>
          <a:p>
            <a:r>
              <a:t>      "marcador": "recuerda"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"resumen",</a:t>
            </a:r>
          </a:p>
          <a:p>
            <a:r>
              <a:t>    "titulo": "Normalizar es decidir dónde vive cada dato",</a:t>
            </a:r>
          </a:p>
          <a:p>
            <a:r>
              <a:t>    "idea_1": "La clave identifica una fila; no basta con que un valor parezca único en los ejemplos.",</a:t>
            </a:r>
          </a:p>
          <a:p>
            <a:r>
              <a:t>    "idea_2": "Las dependencias ayudan a detectar datos repetidos y anomalías de actualización.",</a:t>
            </a:r>
          </a:p>
          <a:p>
            <a:r>
              <a:t>    "idea_3": "Descomponer exige conservar la información y comprobar cómo se reconstruirá mediante consultas.",</a:t>
            </a:r>
          </a:p>
          <a:p>
            <a:r>
              <a:t>    "recuerda": "Cada hecho en su lugar, con claves que permitan relacionarlo."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"terminal",</a:t>
            </a:r>
          </a:p>
          <a:p>
            <a:r>
              <a:t>  "proposito": "Leer una sesión de consola distinguiendo instrucciones escritas y respuestas de la herramienta.",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"comandos":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230,</a:t>
            </a:r>
          </a:p>
          <a:p>
            <a:r>
              <a:t>      "max_lineas": 4,</a:t>
            </a:r>
          </a:p>
          <a:p>
            <a:r>
              <a:t>      "descripcion": "Comandos en orden; incluye el prompt solo si ayuda a distinguir el entorno.",</a:t>
            </a:r>
          </a:p>
          <a:p>
            <a:r>
              <a:t>      "marcador": "comandos"</a:t>
            </a:r>
          </a:p>
          <a:p>
            <a:r>
              <a:t>    },</a:t>
            </a:r>
          </a:p>
          <a:p>
            <a:r>
              <a:t>    "salida":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260,</a:t>
            </a:r>
          </a:p>
          <a:p>
            <a:r>
              <a:t>      "max_lineas": 4,</a:t>
            </a:r>
          </a:p>
          <a:p>
            <a:r>
              <a:t>      "descripcion": "Salida representativa de los comandos, sin inventar resultados que contradigan el ejemplo.",</a:t>
            </a:r>
          </a:p>
          <a:p>
            <a:r>
              <a:t>      "marcador": "salida"</a:t>
            </a:r>
          </a:p>
          <a:p>
            <a:r>
              <a:t>    },</a:t>
            </a:r>
          </a:p>
          <a:p>
            <a:r>
              <a:t>    "nota": {</a:t>
            </a:r>
          </a:p>
          <a:p>
            <a:r>
              <a:t>      "tipo_dato": "string",</a:t>
            </a:r>
          </a:p>
          <a:p>
            <a:r>
              <a:t>      "obligatorio": false,</a:t>
            </a:r>
          </a:p>
          <a:p>
            <a:r>
              <a:t>      "max_caracteres": 110,</a:t>
            </a:r>
          </a:p>
          <a:p>
            <a:r>
              <a:t>      "max_lineas": 1,</a:t>
            </a:r>
          </a:p>
          <a:p>
            <a:r>
              <a:t>      "descripcion": "Aclaración sobre el estado previo o el entorno.",</a:t>
            </a:r>
          </a:p>
          <a:p>
            <a:r>
              <a:t>      "marcador": "nota"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"terminal",</a:t>
            </a:r>
          </a:p>
          <a:p>
            <a:r>
              <a:t>    "titulo": "Inspeccionar antes de confirmar cambios",</a:t>
            </a:r>
          </a:p>
          <a:p>
            <a:r>
              <a:t>    "comandos": "git status --short\ngit diff --stat\ngit log -1 --oneline",</a:t>
            </a:r>
          </a:p>
          <a:p>
            <a:r>
              <a:t>    "salida": " M src/Alumno.java\n src/Alumno.java | 2 +-\n8a3c120 Validar la nota antes de guardarla",</a:t>
            </a:r>
          </a:p>
          <a:p>
            <a:r>
              <a:t>    "nota": "Salida ilustrativa de un repositorio local; los identificadores de commit dependen del historial."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"Comandos Consolas 20 pt y salida Consolas 19 pt; hasta 65 caracteres por línea recomendados. No se ejecutan comandos."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"concepto_visual",</a:t>
            </a:r>
          </a:p>
          <a:p>
            <a:r>
              <a:t>  "proposito": "Fijar una idea central con tres anclajes visuales breves en lugar de un párrafo largo.",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80,</a:t>
            </a:r>
          </a:p>
          <a:p>
            <a:r>
              <a:t>      "max_lineas": 2,</a:t>
            </a:r>
          </a:p>
          <a:p>
            <a:r>
              <a:t>      "descripcion": "Título breve que anticipa la idea de la diapositiva.",</a:t>
            </a:r>
          </a:p>
          <a:p>
            <a:r>
              <a:t>      "marcador": "titulo"</a:t>
            </a:r>
          </a:p>
          <a:p>
            <a:r>
              <a:t>    },</a:t>
            </a:r>
          </a:p>
          <a:p>
            <a:r>
              <a:t>    "concepto":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28,</a:t>
            </a:r>
          </a:p>
          <a:p>
            <a:r>
              <a:t>      "max_lineas": 1,</a:t>
            </a:r>
          </a:p>
          <a:p>
            <a:r>
              <a:t>      "descripcion": "Concepto o relación central, no una frase explicativa larga.",</a:t>
            </a:r>
          </a:p>
          <a:p>
            <a:r>
              <a:t>      "marcador": "concepto"</a:t>
            </a:r>
          </a:p>
          <a:p>
            <a:r>
              <a:t>    },</a:t>
            </a:r>
          </a:p>
          <a:p>
            <a:r>
              <a:t>    "explicacion":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130,</a:t>
            </a:r>
          </a:p>
          <a:p>
            <a:r>
              <a:t>      "max_lineas": 2,</a:t>
            </a:r>
          </a:p>
          <a:p>
            <a:r>
              <a:t>      "descripcion": "Explicación breve que conecta el concepto con sus tres apoyos.",</a:t>
            </a:r>
          </a:p>
          <a:p>
            <a:r>
              <a:t>      "marcador": "explicacion"</a:t>
            </a:r>
          </a:p>
          <a:p>
            <a:r>
              <a:t>    },</a:t>
            </a:r>
          </a:p>
          <a:p>
            <a:r>
              <a:t>    "apoyo_1":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44,</a:t>
            </a:r>
          </a:p>
          <a:p>
            <a:r>
              <a:t>      "max_lineas": 2,</a:t>
            </a:r>
          </a:p>
          <a:p>
            <a:r>
              <a:t>      "descripcion": "Apoyo visual 1: ejemplo, propiedad o consecuencia del concepto.",</a:t>
            </a:r>
          </a:p>
          <a:p>
            <a:r>
              <a:t>      "marcador": "apoyo_1"</a:t>
            </a:r>
          </a:p>
          <a:p>
            <a:r>
              <a:t>    },</a:t>
            </a:r>
          </a:p>
          <a:p>
            <a:r>
              <a:t>    "apoyo_2":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44,</a:t>
            </a:r>
          </a:p>
          <a:p>
            <a:r>
              <a:t>      "max_lineas": 2,</a:t>
            </a:r>
          </a:p>
          <a:p>
            <a:r>
              <a:t>      "descripcion": "Apoyo visual 2: ejemplo, propiedad o consecuencia del concepto.",</a:t>
            </a:r>
          </a:p>
          <a:p>
            <a:r>
              <a:t>      "marcador": "apoyo_2"</a:t>
            </a:r>
          </a:p>
          <a:p>
            <a:r>
              <a:t>    },</a:t>
            </a:r>
          </a:p>
          <a:p>
            <a:r>
              <a:t>    "apoyo_3": {</a:t>
            </a:r>
          </a:p>
          <a:p>
            <a:r>
              <a:t>      "tipo_dato": "string",</a:t>
            </a:r>
          </a:p>
          <a:p>
            <a:r>
              <a:t>      "obligatorio": true,</a:t>
            </a:r>
          </a:p>
          <a:p>
            <a:r>
              <a:t>      "max_caracteres": 44,</a:t>
            </a:r>
          </a:p>
          <a:p>
            <a:r>
              <a:t>      "max_lineas": 2,</a:t>
            </a:r>
          </a:p>
          <a:p>
            <a:r>
              <a:t>      "descripcion": "Apoyo visual 3: ejemplo, propiedad o consecuencia del concepto.",</a:t>
            </a:r>
          </a:p>
          <a:p>
            <a:r>
              <a:t>      "marcador": "apoyo_3"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"concepto_visual",</a:t>
            </a:r>
          </a:p>
          <a:p>
            <a:r>
              <a:t>    "titulo": "Un documento, tres formas de estructurar datos",</a:t>
            </a:r>
          </a:p>
          <a:p>
            <a:r>
              <a:t>    "concepto": "Estructura y significado",</a:t>
            </a:r>
          </a:p>
          <a:p>
            <a:r>
              <a:t>    "explicacion": "La sintaxis organiza los datos; el contrato permite interpretarlos y comprobar si son válidos.",</a:t>
            </a:r>
          </a:p>
          <a:p>
            <a:r>
              <a:t>    "apoyo_1": "HTML\nContenido y semántica",</a:t>
            </a:r>
          </a:p>
          <a:p>
            <a:r>
              <a:t>    "apoyo_2": "XML\nElementos y atributos",</a:t>
            </a:r>
          </a:p>
          <a:p>
            <a:r>
              <a:t>    "apoyo_3": "JSON\nObjetos y listas"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"Composición fija y texto literal. Divide el contenido en varias diapositivas si no cabe.",</a:t>
            </a:r>
          </a:p>
          <a:p>
            <a:r>
              <a:t>    "Los máximos cuentan caracteres y saltos explícitos, no el ajuste visual. Revisa las líneas largas.",</a:t>
            </a:r>
          </a:p>
          <a:p>
            <a:r>
              <a:t>    "Tres apoyos fijos de texto; no son imágenes variables ni una lista JSON."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PORTADA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subtitulo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PREGUNTA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3337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DEFINICION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3337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CODIGO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0D5CB"/>
                </a:solidFill>
                <a:latin typeface="Aptos"/>
              </a:rPr>
              <a:t>{{ lenguaje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500"/>
              </a:lnSpc>
            </a:pPr>
            <a:r>
              <a:rPr sz="1400" b="0">
                <a:solidFill>
                  <a:srgbClr val="E7EDF6"/>
                </a:solidFill>
                <a:latin typeface="Consolas"/>
              </a:rPr>
              <a:t>{{ codigo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EXPLICACION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DAM / EXPLICACION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05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05 / 20</a:t>
            </a:r>
          </a:p>
        </p:txBody>
      </p:sp>
      <p:sp>
        <p:nvSpPr>
          <p:cNvPr id="7" name="IDEA PRINCIPAL"/>
          <p:cNvSpPr txBox="1"/>
          <p:nvPr/>
        </p:nvSpPr>
        <p:spPr>
          <a:xfrm>
            <a:off x="640080" y="1920240"/>
            <a:ext cx="6766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IDEA PRINCIPAL</a:t>
            </a:r>
          </a:p>
        </p:txBody>
      </p:sp>
      <p:sp>
        <p:nvSpPr>
          <p:cNvPr id="8" name="contenido"/>
          <p:cNvSpPr txBox="1"/>
          <p:nvPr/>
        </p:nvSpPr>
        <p:spPr>
          <a:xfrm>
            <a:off x="640080" y="2350008"/>
            <a:ext cx="6812280" cy="3611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920240"/>
            <a:ext cx="3730752" cy="425196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JEMPLO BREVE"/>
          <p:cNvSpPr txBox="1"/>
          <p:nvPr/>
        </p:nvSpPr>
        <p:spPr>
          <a:xfrm>
            <a:off x="8092440" y="2121408"/>
            <a:ext cx="3154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EJEMPLO BREVE</a:t>
            </a:r>
          </a:p>
        </p:txBody>
      </p:sp>
      <p:sp>
        <p:nvSpPr>
          <p:cNvPr id="11" name="ejemplo"/>
          <p:cNvSpPr txBox="1"/>
          <p:nvPr/>
        </p:nvSpPr>
        <p:spPr>
          <a:xfrm>
            <a:off x="8092440" y="2660904"/>
            <a:ext cx="3154680" cy="3063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6FB"/>
                </a:solidFill>
                <a:latin typeface="Consolas"/>
              </a:rPr>
              <a:t>{{ ejemplo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F4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PROBLEMA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56A"/>
                </a:solidFill>
                <a:latin typeface="Aptos"/>
              </a:rPr>
              <a:t>DAM / PROBLEMA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06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06 / 20</a:t>
            </a:r>
          </a:p>
        </p:txBody>
      </p:sp>
      <p:sp>
        <p:nvSpPr>
          <p:cNvPr id="7" name="SITUACIÓN INICIAL"/>
          <p:cNvSpPr txBox="1"/>
          <p:nvPr/>
        </p:nvSpPr>
        <p:spPr>
          <a:xfrm>
            <a:off x="640080" y="1920240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56A"/>
                </a:solidFill>
                <a:latin typeface="Aptos"/>
              </a:rPr>
              <a:t>SITUACIÓN INICIAL</a:t>
            </a:r>
          </a:p>
        </p:txBody>
      </p:sp>
      <p:sp>
        <p:nvSpPr>
          <p:cNvPr id="8" name="situacion"/>
          <p:cNvSpPr txBox="1"/>
          <p:nvPr/>
        </p:nvSpPr>
        <p:spPr>
          <a:xfrm>
            <a:off x="640080" y="2304288"/>
            <a:ext cx="10789920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ED7E4"/>
                </a:solidFill>
                <a:latin typeface="Aptos"/>
              </a:rPr>
              <a:t>{{ situacion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83280"/>
            <a:ext cx="5257800" cy="274320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44768" y="3383280"/>
            <a:ext cx="5404104" cy="2743200"/>
          </a:xfrm>
          <a:prstGeom prst="roundRect">
            <a:avLst>
              <a:gd name="adj" fmla="val 8000"/>
            </a:avLst>
          </a:prstGeom>
          <a:solidFill>
            <a:srgbClr val="24332F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É FALLA"/>
          <p:cNvSpPr txBox="1"/>
          <p:nvPr/>
        </p:nvSpPr>
        <p:spPr>
          <a:xfrm>
            <a:off x="868680" y="3584448"/>
            <a:ext cx="4709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56A"/>
                </a:solidFill>
                <a:latin typeface="Aptos"/>
              </a:rPr>
              <a:t>QUÉ FALLA</a:t>
            </a:r>
          </a:p>
        </p:txBody>
      </p:sp>
      <p:sp>
        <p:nvSpPr>
          <p:cNvPr id="12" name="problema"/>
          <p:cNvSpPr txBox="1"/>
          <p:nvPr/>
        </p:nvSpPr>
        <p:spPr>
          <a:xfrm>
            <a:off x="868680" y="4050791"/>
            <a:ext cx="4709160" cy="1783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problema }}</a:t>
            </a:r>
          </a:p>
        </p:txBody>
      </p:sp>
      <p:sp>
        <p:nvSpPr>
          <p:cNvPr id="13" name="PREGUNTA GUÍA"/>
          <p:cNvSpPr txBox="1"/>
          <p:nvPr/>
        </p:nvSpPr>
        <p:spPr>
          <a:xfrm>
            <a:off x="6419088" y="3584448"/>
            <a:ext cx="4846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PREGUNTA GUÍA</a:t>
            </a:r>
          </a:p>
        </p:txBody>
      </p:sp>
      <p:sp>
        <p:nvSpPr>
          <p:cNvPr id="14" name="pregunta"/>
          <p:cNvSpPr txBox="1"/>
          <p:nvPr/>
        </p:nvSpPr>
        <p:spPr>
          <a:xfrm>
            <a:off x="6419088" y="4050791"/>
            <a:ext cx="4846320" cy="1783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3F6FB"/>
                </a:solidFill>
                <a:latin typeface="Aptos"/>
              </a:rPr>
              <a:t>{{ pregunta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CODIGO EXPLICADO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DAM / CODIGO EXPLICADO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07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07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6839712" cy="425196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"/>
          <p:cNvSpPr txBox="1"/>
          <p:nvPr/>
        </p:nvSpPr>
        <p:spPr>
          <a:xfrm>
            <a:off x="868680" y="2075688"/>
            <a:ext cx="6309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CÓDIGO</a:t>
            </a:r>
          </a:p>
        </p:txBody>
      </p:sp>
      <p:sp>
        <p:nvSpPr>
          <p:cNvPr id="9" name="codigo"/>
          <p:cNvSpPr txBox="1"/>
          <p:nvPr/>
        </p:nvSpPr>
        <p:spPr>
          <a:xfrm>
            <a:off x="868680" y="2514600"/>
            <a:ext cx="6291072" cy="3456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6FB"/>
                </a:solidFill>
                <a:latin typeface="Consolas"/>
              </a:rPr>
              <a:t>{{ codigo }}</a:t>
            </a:r>
          </a:p>
        </p:txBody>
      </p:sp>
      <p:sp>
        <p:nvSpPr>
          <p:cNvPr id="10" name="CÓMO FUNCIONA"/>
          <p:cNvSpPr txBox="1"/>
          <p:nvPr/>
        </p:nvSpPr>
        <p:spPr>
          <a:xfrm>
            <a:off x="7818120" y="2075688"/>
            <a:ext cx="3703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CÓMO FUNCIONA</a:t>
            </a:r>
          </a:p>
        </p:txBody>
      </p:sp>
      <p:sp>
        <p:nvSpPr>
          <p:cNvPr id="11" name="explicacion"/>
          <p:cNvSpPr txBox="1"/>
          <p:nvPr/>
        </p:nvSpPr>
        <p:spPr>
          <a:xfrm>
            <a:off x="7818120" y="2587752"/>
            <a:ext cx="3703320" cy="3383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explicacion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CODIGO RESULTADO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DAM / CODIGO RESULTADO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08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08 / 20</a:t>
            </a:r>
          </a:p>
        </p:txBody>
      </p:sp>
      <p:sp>
        <p:nvSpPr>
          <p:cNvPr id="7" name="CÓDIGO"/>
          <p:cNvSpPr txBox="1"/>
          <p:nvPr/>
        </p:nvSpPr>
        <p:spPr>
          <a:xfrm>
            <a:off x="685800" y="1874519"/>
            <a:ext cx="1371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CÓDIGO</a:t>
            </a:r>
          </a:p>
        </p:txBody>
      </p:sp>
      <p:sp>
        <p:nvSpPr>
          <p:cNvPr id="8" name="lenguaje"/>
          <p:cNvSpPr txBox="1"/>
          <p:nvPr/>
        </p:nvSpPr>
        <p:spPr>
          <a:xfrm>
            <a:off x="9326880" y="1874519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B8FF"/>
                </a:solidFill>
                <a:latin typeface="Aptos"/>
              </a:rPr>
              <a:t>{{ lenguaje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10954512" cy="2020824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igo"/>
          <p:cNvSpPr txBox="1"/>
          <p:nvPr/>
        </p:nvSpPr>
        <p:spPr>
          <a:xfrm>
            <a:off x="841248" y="2395728"/>
            <a:ext cx="10451592" cy="1783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3F6FB"/>
                </a:solidFill>
                <a:latin typeface="Consolas"/>
              </a:rPr>
              <a:t>{{ codigo }}</a:t>
            </a:r>
          </a:p>
        </p:txBody>
      </p:sp>
      <p:sp>
        <p:nvSpPr>
          <p:cNvPr id="11" name="RESULTADO ESPERADO"/>
          <p:cNvSpPr txBox="1"/>
          <p:nvPr/>
        </p:nvSpPr>
        <p:spPr>
          <a:xfrm>
            <a:off x="685800" y="4535424"/>
            <a:ext cx="10515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E0AF"/>
                </a:solidFill>
                <a:latin typeface="Aptos"/>
              </a:rPr>
              <a:t>RESULTADO ESPERADO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937760"/>
            <a:ext cx="10954512" cy="1170432"/>
          </a:xfrm>
          <a:prstGeom prst="roundRect">
            <a:avLst>
              <a:gd name="adj" fmla="val 8000"/>
            </a:avLst>
          </a:prstGeom>
          <a:solidFill>
            <a:srgbClr val="18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sultado"/>
          <p:cNvSpPr txBox="1"/>
          <p:nvPr/>
        </p:nvSpPr>
        <p:spPr>
          <a:xfrm>
            <a:off x="841248" y="5065776"/>
            <a:ext cx="10451592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CE0AF"/>
                </a:solidFill>
                <a:latin typeface="Consolas"/>
              </a:rPr>
              <a:t>{{ resultado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COMPARACION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DAM / COMPARACION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09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09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38528"/>
            <a:ext cx="5340096" cy="42062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zquierda_titulo"/>
          <p:cNvSpPr txBox="1"/>
          <p:nvPr/>
        </p:nvSpPr>
        <p:spPr>
          <a:xfrm>
            <a:off x="868680" y="2176272"/>
            <a:ext cx="479145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0D5CB"/>
                </a:solidFill>
                <a:latin typeface="Aptos"/>
              </a:rPr>
              <a:t>{{ izquierda_titulo }}</a:t>
            </a:r>
          </a:p>
        </p:txBody>
      </p:sp>
      <p:sp>
        <p:nvSpPr>
          <p:cNvPr id="9" name="izquierda_contenido"/>
          <p:cNvSpPr txBox="1"/>
          <p:nvPr/>
        </p:nvSpPr>
        <p:spPr>
          <a:xfrm>
            <a:off x="868680" y="3136392"/>
            <a:ext cx="4791456" cy="2697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ED7E4"/>
                </a:solidFill>
                <a:latin typeface="Aptos"/>
              </a:rPr>
              <a:t>{{ izquierda_contenido 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38528"/>
            <a:ext cx="5340096" cy="42062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875">
            <a:solidFill>
              <a:srgbClr val="8B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recha_titulo"/>
          <p:cNvSpPr txBox="1"/>
          <p:nvPr/>
        </p:nvSpPr>
        <p:spPr>
          <a:xfrm>
            <a:off x="6483096" y="2176272"/>
            <a:ext cx="479145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BB8FF"/>
                </a:solidFill>
                <a:latin typeface="Aptos"/>
              </a:rPr>
              <a:t>{{ derecha_titulo }}</a:t>
            </a:r>
          </a:p>
        </p:txBody>
      </p:sp>
      <p:sp>
        <p:nvSpPr>
          <p:cNvPr id="12" name="derecha_contenido"/>
          <p:cNvSpPr txBox="1"/>
          <p:nvPr/>
        </p:nvSpPr>
        <p:spPr>
          <a:xfrm>
            <a:off x="6483096" y="3136392"/>
            <a:ext cx="4791456" cy="2697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ED7E4"/>
                </a:solidFill>
                <a:latin typeface="Aptos"/>
              </a:rPr>
              <a:t>{{ derecha_contenido 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ANTES DESPUES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DAM / ANTES DESPUES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0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10 / 20</a:t>
            </a:r>
          </a:p>
        </p:txBody>
      </p:sp>
      <p:sp>
        <p:nvSpPr>
          <p:cNvPr id="7" name="ANTES"/>
          <p:cNvSpPr txBox="1"/>
          <p:nvPr/>
        </p:nvSpPr>
        <p:spPr>
          <a:xfrm>
            <a:off x="795528" y="19202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ED7E4"/>
                </a:solidFill>
                <a:latin typeface="Aptos"/>
              </a:rPr>
              <a:t>ANTES</a:t>
            </a:r>
          </a:p>
        </p:txBody>
      </p:sp>
      <p:sp>
        <p:nvSpPr>
          <p:cNvPr id="8" name="antes_titulo"/>
          <p:cNvSpPr txBox="1"/>
          <p:nvPr/>
        </p:nvSpPr>
        <p:spPr>
          <a:xfrm>
            <a:off x="795528" y="2304288"/>
            <a:ext cx="47548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ED7E4"/>
                </a:solidFill>
                <a:latin typeface="Aptos"/>
              </a:rPr>
              <a:t>{{ antes_titulo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80360"/>
            <a:ext cx="5166360" cy="2587752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ntes_contenido"/>
          <p:cNvSpPr txBox="1"/>
          <p:nvPr/>
        </p:nvSpPr>
        <p:spPr>
          <a:xfrm>
            <a:off x="795528" y="3063240"/>
            <a:ext cx="4764024" cy="2221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F6FB"/>
                </a:solidFill>
                <a:latin typeface="Consolas"/>
              </a:rPr>
              <a:t>{{ antes_contenido }}</a:t>
            </a:r>
          </a:p>
        </p:txBody>
      </p:sp>
      <p:sp>
        <p:nvSpPr>
          <p:cNvPr id="11" name="DESPUES"/>
          <p:cNvSpPr txBox="1"/>
          <p:nvPr/>
        </p:nvSpPr>
        <p:spPr>
          <a:xfrm>
            <a:off x="6583680" y="19202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DESPUES</a:t>
            </a:r>
          </a:p>
        </p:txBody>
      </p:sp>
      <p:sp>
        <p:nvSpPr>
          <p:cNvPr id="12" name="despues_titulo"/>
          <p:cNvSpPr txBox="1"/>
          <p:nvPr/>
        </p:nvSpPr>
        <p:spPr>
          <a:xfrm>
            <a:off x="6583680" y="2304288"/>
            <a:ext cx="47548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0D5CB"/>
                </a:solidFill>
                <a:latin typeface="Aptos"/>
              </a:rPr>
              <a:t>{{ despues_titulo 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880360"/>
            <a:ext cx="5166360" cy="2587752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spues_contenido"/>
          <p:cNvSpPr txBox="1"/>
          <p:nvPr/>
        </p:nvSpPr>
        <p:spPr>
          <a:xfrm>
            <a:off x="6583680" y="3063240"/>
            <a:ext cx="4764024" cy="2221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F6FB"/>
                </a:solidFill>
                <a:latin typeface="Consolas"/>
              </a:rPr>
              <a:t>{{ despues_contenido }}</a:t>
            </a:r>
          </a:p>
        </p:txBody>
      </p:sp>
      <p:sp>
        <p:nvSpPr>
          <p:cNvPr id="15" name="Chevron 14"/>
          <p:cNvSpPr/>
          <p:nvPr/>
        </p:nvSpPr>
        <p:spPr>
          <a:xfrm>
            <a:off x="5852160" y="3840480"/>
            <a:ext cx="384048" cy="475488"/>
          </a:xfrm>
          <a:prstGeom prst="chevron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clusion"/>
          <p:cNvSpPr txBox="1"/>
          <p:nvPr/>
        </p:nvSpPr>
        <p:spPr>
          <a:xfrm>
            <a:off x="731520" y="565099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ED7E4"/>
                </a:solidFill>
                <a:latin typeface="Aptos"/>
              </a:rPr>
              <a:t>{{ conclusion 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FF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ERROR CORRECCION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39B"/>
                </a:solidFill>
                <a:latin typeface="Aptos"/>
              </a:rPr>
              <a:t>DAM / ERROR CORRECCION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1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11 / 20</a:t>
            </a:r>
          </a:p>
        </p:txBody>
      </p:sp>
      <p:sp>
        <p:nvSpPr>
          <p:cNvPr id="7" name="INCORRECTO"/>
          <p:cNvSpPr txBox="1"/>
          <p:nvPr/>
        </p:nvSpPr>
        <p:spPr>
          <a:xfrm>
            <a:off x="795528" y="1920240"/>
            <a:ext cx="4846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39B"/>
                </a:solidFill>
                <a:latin typeface="Aptos"/>
              </a:rPr>
              <a:t>INCORRECTO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59152"/>
            <a:ext cx="5340096" cy="2487168"/>
          </a:xfrm>
          <a:prstGeom prst="roundRect">
            <a:avLst>
              <a:gd name="adj" fmla="val 8000"/>
            </a:avLst>
          </a:prstGeom>
          <a:solidFill>
            <a:srgbClr val="281F30"/>
          </a:solidFill>
          <a:ln w="15875">
            <a:solidFill>
              <a:srgbClr val="FF9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igo_error"/>
          <p:cNvSpPr txBox="1"/>
          <p:nvPr/>
        </p:nvSpPr>
        <p:spPr>
          <a:xfrm>
            <a:off x="795528" y="2560320"/>
            <a:ext cx="4937760" cy="2084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F6FB"/>
                </a:solidFill>
                <a:latin typeface="Consolas"/>
              </a:rPr>
              <a:t>{{ codigo_error }}</a:t>
            </a:r>
          </a:p>
        </p:txBody>
      </p:sp>
      <p:sp>
        <p:nvSpPr>
          <p:cNvPr id="10" name="CORREGIDO"/>
          <p:cNvSpPr txBox="1"/>
          <p:nvPr/>
        </p:nvSpPr>
        <p:spPr>
          <a:xfrm>
            <a:off x="6409944" y="1920240"/>
            <a:ext cx="4846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E0AF"/>
                </a:solidFill>
                <a:latin typeface="Aptos"/>
              </a:rPr>
              <a:t>CORREGIDO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359152"/>
            <a:ext cx="5340096" cy="2487168"/>
          </a:xfrm>
          <a:prstGeom prst="roundRect">
            <a:avLst>
              <a:gd name="adj" fmla="val 8000"/>
            </a:avLst>
          </a:prstGeom>
          <a:solidFill>
            <a:srgbClr val="182E2B"/>
          </a:solidFill>
          <a:ln w="15875">
            <a:solidFill>
              <a:srgbClr val="8CE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igo_correcto"/>
          <p:cNvSpPr txBox="1"/>
          <p:nvPr/>
        </p:nvSpPr>
        <p:spPr>
          <a:xfrm>
            <a:off x="6409944" y="2560320"/>
            <a:ext cx="4937760" cy="2084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F6FB"/>
                </a:solidFill>
                <a:latin typeface="Consolas"/>
              </a:rPr>
              <a:t>{{ codigo_correcto }}</a:t>
            </a:r>
          </a:p>
        </p:txBody>
      </p:sp>
      <p:sp>
        <p:nvSpPr>
          <p:cNvPr id="13" name="POR QUÉ FALLABA"/>
          <p:cNvSpPr txBox="1"/>
          <p:nvPr/>
        </p:nvSpPr>
        <p:spPr>
          <a:xfrm>
            <a:off x="685800" y="5120640"/>
            <a:ext cx="10515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39B"/>
                </a:solidFill>
                <a:latin typeface="Aptos"/>
              </a:rPr>
              <a:t>POR QUÉ FALLABA</a:t>
            </a:r>
          </a:p>
        </p:txBody>
      </p:sp>
      <p:sp>
        <p:nvSpPr>
          <p:cNvPr id="14" name="explicacion"/>
          <p:cNvSpPr txBox="1"/>
          <p:nvPr/>
        </p:nvSpPr>
        <p:spPr>
          <a:xfrm>
            <a:off x="685800" y="5513832"/>
            <a:ext cx="107899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explicacion 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PASOS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DAM / PASOS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2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12 / 20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984248"/>
            <a:ext cx="475488" cy="475488"/>
          </a:xfrm>
          <a:prstGeom prst="ellipse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1"/>
          <p:cNvSpPr txBox="1"/>
          <p:nvPr/>
        </p:nvSpPr>
        <p:spPr>
          <a:xfrm>
            <a:off x="658368" y="2020824"/>
            <a:ext cx="47548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1827"/>
                </a:solidFill>
                <a:latin typeface="Aptos"/>
              </a:rPr>
              <a:t>1</a:t>
            </a:r>
          </a:p>
        </p:txBody>
      </p:sp>
      <p:sp>
        <p:nvSpPr>
          <p:cNvPr id="9" name="paso_1"/>
          <p:cNvSpPr txBox="1"/>
          <p:nvPr/>
        </p:nvSpPr>
        <p:spPr>
          <a:xfrm>
            <a:off x="1417320" y="1938528"/>
            <a:ext cx="9875520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paso_1 }}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816352"/>
            <a:ext cx="475488" cy="475488"/>
          </a:xfrm>
          <a:prstGeom prst="ellipse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2"/>
          <p:cNvSpPr txBox="1"/>
          <p:nvPr/>
        </p:nvSpPr>
        <p:spPr>
          <a:xfrm>
            <a:off x="658368" y="2852928"/>
            <a:ext cx="47548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1827"/>
                </a:solidFill>
                <a:latin typeface="Aptos"/>
              </a:rPr>
              <a:t>2</a:t>
            </a:r>
          </a:p>
        </p:txBody>
      </p:sp>
      <p:sp>
        <p:nvSpPr>
          <p:cNvPr id="12" name="paso_2"/>
          <p:cNvSpPr txBox="1"/>
          <p:nvPr/>
        </p:nvSpPr>
        <p:spPr>
          <a:xfrm>
            <a:off x="1417320" y="2770632"/>
            <a:ext cx="9875520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paso_2 }}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648456"/>
            <a:ext cx="475488" cy="475488"/>
          </a:xfrm>
          <a:prstGeom prst="ellipse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3"/>
          <p:cNvSpPr txBox="1"/>
          <p:nvPr/>
        </p:nvSpPr>
        <p:spPr>
          <a:xfrm>
            <a:off x="658368" y="3685032"/>
            <a:ext cx="47548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1827"/>
                </a:solidFill>
                <a:latin typeface="Aptos"/>
              </a:rPr>
              <a:t>3</a:t>
            </a:r>
          </a:p>
        </p:txBody>
      </p:sp>
      <p:sp>
        <p:nvSpPr>
          <p:cNvPr id="15" name="paso_3"/>
          <p:cNvSpPr txBox="1"/>
          <p:nvPr/>
        </p:nvSpPr>
        <p:spPr>
          <a:xfrm>
            <a:off x="1417320" y="3602736"/>
            <a:ext cx="9875520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paso_3 }}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80559"/>
            <a:ext cx="475488" cy="475488"/>
          </a:xfrm>
          <a:prstGeom prst="ellipse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4"/>
          <p:cNvSpPr txBox="1"/>
          <p:nvPr/>
        </p:nvSpPr>
        <p:spPr>
          <a:xfrm>
            <a:off x="658368" y="4517136"/>
            <a:ext cx="47548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1827"/>
                </a:solidFill>
                <a:latin typeface="Aptos"/>
              </a:rPr>
              <a:t>4</a:t>
            </a:r>
          </a:p>
        </p:txBody>
      </p:sp>
      <p:sp>
        <p:nvSpPr>
          <p:cNvPr id="18" name="paso_4"/>
          <p:cNvSpPr txBox="1"/>
          <p:nvPr/>
        </p:nvSpPr>
        <p:spPr>
          <a:xfrm>
            <a:off x="1417320" y="4434840"/>
            <a:ext cx="9875520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paso_4 }}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5312664"/>
            <a:ext cx="475488" cy="475488"/>
          </a:xfrm>
          <a:prstGeom prst="ellipse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"/>
          <p:cNvSpPr txBox="1"/>
          <p:nvPr/>
        </p:nvSpPr>
        <p:spPr>
          <a:xfrm>
            <a:off x="658368" y="5349240"/>
            <a:ext cx="47548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1827"/>
                </a:solidFill>
                <a:latin typeface="Aptos"/>
              </a:rPr>
              <a:t>5</a:t>
            </a:r>
          </a:p>
        </p:txBody>
      </p:sp>
      <p:sp>
        <p:nvSpPr>
          <p:cNvPr id="21" name="paso_5"/>
          <p:cNvSpPr txBox="1"/>
          <p:nvPr/>
        </p:nvSpPr>
        <p:spPr>
          <a:xfrm>
            <a:off x="1417320" y="5266944"/>
            <a:ext cx="9875520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paso_5 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TABLA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DAM / TABLA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3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13 / 20</a:t>
            </a:r>
          </a:p>
        </p:txBody>
      </p:sp>
      <p:graphicFrame>
        <p:nvGraphicFramePr>
          <p:cNvPr id="7" name="tabla_editable_3x4"/>
          <p:cNvGraphicFramePr>
            <a:graphicFrameLocks noGrp="1"/>
          </p:cNvGraphicFramePr>
          <p:nvPr/>
        </p:nvGraphicFramePr>
        <p:xfrm>
          <a:off x="594360" y="1965960"/>
          <a:ext cx="10954512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1504"/>
                <a:gridCol w="3651504"/>
                <a:gridCol w="3651504"/>
              </a:tblGrid>
              <a:tr h="722376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50D5CB"/>
                          </a:solidFill>
                          <a:latin typeface="Aptos"/>
                        </a:rPr>
                        <a:t>{{ encabezado_1 }}</a:t>
                      </a:r>
                    </a:p>
                  </a:txBody>
                  <a:tcPr marT="64008" marB="64008" marL="164592" marR="164592" anchor="ctr">
                    <a:solidFill>
                      <a:srgbClr val="24405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50D5CB"/>
                          </a:solidFill>
                          <a:latin typeface="Aptos"/>
                        </a:rPr>
                        <a:t>{{ encabezado_2 }}</a:t>
                      </a:r>
                    </a:p>
                  </a:txBody>
                  <a:tcPr marT="64008" marB="64008" marL="164592" marR="164592" anchor="ctr">
                    <a:solidFill>
                      <a:srgbClr val="24405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50D5CB"/>
                          </a:solidFill>
                          <a:latin typeface="Aptos"/>
                        </a:rPr>
                        <a:t>{{ encabezado_3 }}</a:t>
                      </a:r>
                    </a:p>
                  </a:txBody>
                  <a:tcPr marT="64008" marB="64008" marL="164592" marR="164592" anchor="ctr">
                    <a:solidFill>
                      <a:srgbClr val="244055"/>
                    </a:solidFill>
                  </a:tcPr>
                </a:tc>
              </a:tr>
              <a:tr h="722376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fila_1_col_1 }}</a:t>
                      </a:r>
                    </a:p>
                  </a:txBody>
                  <a:tcPr marT="64008" marB="64008" marL="164592" marR="164592" anchor="ctr">
                    <a:solidFill>
                      <a:srgbClr val="19263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fila_1_col_2 }}</a:t>
                      </a:r>
                    </a:p>
                  </a:txBody>
                  <a:tcPr marT="64008" marB="64008" marL="164592" marR="164592" anchor="ctr">
                    <a:solidFill>
                      <a:srgbClr val="19263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fila_1_col_3 }}</a:t>
                      </a:r>
                    </a:p>
                  </a:txBody>
                  <a:tcPr marT="64008" marB="64008" marL="164592" marR="164592" anchor="ctr">
                    <a:solidFill>
                      <a:srgbClr val="19263A"/>
                    </a:solidFill>
                  </a:tcPr>
                </a:tc>
              </a:tr>
              <a:tr h="722376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fila_2_col_1 }}</a:t>
                      </a:r>
                    </a:p>
                  </a:txBody>
                  <a:tcPr marT="64008" marB="64008" marL="164592" marR="164592" anchor="ctr">
                    <a:solidFill>
                      <a:srgbClr val="14213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fila_2_col_2 }}</a:t>
                      </a:r>
                    </a:p>
                  </a:txBody>
                  <a:tcPr marT="64008" marB="64008" marL="164592" marR="164592" anchor="ctr">
                    <a:solidFill>
                      <a:srgbClr val="14213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fila_2_col_3 }}</a:t>
                      </a:r>
                    </a:p>
                  </a:txBody>
                  <a:tcPr marT="64008" marB="64008" marL="164592" marR="164592" anchor="ctr">
                    <a:solidFill>
                      <a:srgbClr val="142135"/>
                    </a:solidFill>
                  </a:tcPr>
                </a:tc>
              </a:tr>
              <a:tr h="722376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fila_3_col_1 }}</a:t>
                      </a:r>
                    </a:p>
                  </a:txBody>
                  <a:tcPr marT="64008" marB="64008" marL="164592" marR="164592" anchor="ctr">
                    <a:solidFill>
                      <a:srgbClr val="19263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fila_3_col_2 }}</a:t>
                      </a:r>
                    </a:p>
                  </a:txBody>
                  <a:tcPr marT="64008" marB="64008" marL="164592" marR="164592" anchor="ctr">
                    <a:solidFill>
                      <a:srgbClr val="19263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fila_3_col_3 }}</a:t>
                      </a:r>
                    </a:p>
                  </a:txBody>
                  <a:tcPr marT="64008" marB="64008" marL="164592" marR="164592" anchor="ctr">
                    <a:solidFill>
                      <a:srgbClr val="19263A"/>
                    </a:solidFill>
                  </a:tcPr>
                </a:tc>
              </a:tr>
              <a:tr h="722376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fila_4_col_1 }}</a:t>
                      </a:r>
                    </a:p>
                  </a:txBody>
                  <a:tcPr marT="64008" marB="64008" marL="164592" marR="164592" anchor="ctr">
                    <a:solidFill>
                      <a:srgbClr val="14213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fila_4_col_2 }}</a:t>
                      </a:r>
                    </a:p>
                  </a:txBody>
                  <a:tcPr marT="64008" marB="64008" marL="164592" marR="164592" anchor="ctr">
                    <a:solidFill>
                      <a:srgbClr val="14213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F3F6FB"/>
                          </a:solidFill>
                          <a:latin typeface="Aptos"/>
                        </a:rPr>
                        <a:t>{{ fila_4_col_3 }}</a:t>
                      </a:r>
                    </a:p>
                  </a:txBody>
                  <a:tcPr marT="64008" marB="64008" marL="164592" marR="164592" anchor="ctr">
                    <a:solidFill>
                      <a:srgbClr val="142135"/>
                    </a:solidFill>
                  </a:tcPr>
                </a:tc>
              </a:tr>
            </a:tbl>
          </a:graphicData>
        </a:graphic>
      </p:graphicFrame>
      <p:sp>
        <p:nvSpPr>
          <p:cNvPr id="8" name="nota"/>
          <p:cNvSpPr txBox="1"/>
          <p:nvPr/>
        </p:nvSpPr>
        <p:spPr>
          <a:xfrm>
            <a:off x="685800" y="5797296"/>
            <a:ext cx="107899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ED7E4"/>
                </a:solidFill>
                <a:latin typeface="Aptos"/>
              </a:rPr>
              <a:t>{{ nota 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DIAGRAMA FLUJO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DAM / DIAGRAMA FLUJO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4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14 / 20</a:t>
            </a:r>
          </a:p>
        </p:txBody>
      </p:sp>
      <p:sp>
        <p:nvSpPr>
          <p:cNvPr id="7" name="contexto"/>
          <p:cNvSpPr txBox="1"/>
          <p:nvPr/>
        </p:nvSpPr>
        <p:spPr>
          <a:xfrm>
            <a:off x="685800" y="1901952"/>
            <a:ext cx="107899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contexto }}</a:t>
            </a:r>
          </a:p>
        </p:txBody>
      </p:sp>
      <p:sp>
        <p:nvSpPr>
          <p:cNvPr id="8" name="etapa_nodo_1"/>
          <p:cNvSpPr/>
          <p:nvPr/>
        </p:nvSpPr>
        <p:spPr>
          <a:xfrm>
            <a:off x="594360" y="2944368"/>
            <a:ext cx="2286000" cy="1600200"/>
          </a:xfrm>
          <a:prstGeom prst="roundRect">
            <a:avLst>
              <a:gd name="adj" fmla="val 8000"/>
            </a:avLst>
          </a:prstGeom>
          <a:solidFill>
            <a:srgbClr val="203C40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1"/>
          <p:cNvSpPr txBox="1"/>
          <p:nvPr/>
        </p:nvSpPr>
        <p:spPr>
          <a:xfrm>
            <a:off x="731520" y="3108960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01</a:t>
            </a:r>
          </a:p>
        </p:txBody>
      </p:sp>
      <p:sp>
        <p:nvSpPr>
          <p:cNvPr id="10" name="etapa_1"/>
          <p:cNvSpPr txBox="1"/>
          <p:nvPr/>
        </p:nvSpPr>
        <p:spPr>
          <a:xfrm>
            <a:off x="731520" y="3593592"/>
            <a:ext cx="2011680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etapa_1 }}</a:t>
            </a:r>
          </a:p>
        </p:txBody>
      </p:sp>
      <p:sp>
        <p:nvSpPr>
          <p:cNvPr id="11" name="etapa_nodo_2"/>
          <p:cNvSpPr/>
          <p:nvPr/>
        </p:nvSpPr>
        <p:spPr>
          <a:xfrm>
            <a:off x="3483864" y="2944368"/>
            <a:ext cx="2286000" cy="160020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2"/>
          <p:cNvSpPr txBox="1"/>
          <p:nvPr/>
        </p:nvSpPr>
        <p:spPr>
          <a:xfrm>
            <a:off x="3621024" y="3108960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02</a:t>
            </a:r>
          </a:p>
        </p:txBody>
      </p:sp>
      <p:sp>
        <p:nvSpPr>
          <p:cNvPr id="13" name="etapa_2"/>
          <p:cNvSpPr txBox="1"/>
          <p:nvPr/>
        </p:nvSpPr>
        <p:spPr>
          <a:xfrm>
            <a:off x="3621024" y="3593592"/>
            <a:ext cx="2011680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etapa_2 }}</a:t>
            </a:r>
          </a:p>
        </p:txBody>
      </p:sp>
      <p:sp>
        <p:nvSpPr>
          <p:cNvPr id="14" name="etapa_nodo_3"/>
          <p:cNvSpPr/>
          <p:nvPr/>
        </p:nvSpPr>
        <p:spPr>
          <a:xfrm>
            <a:off x="6373368" y="2944368"/>
            <a:ext cx="2286000" cy="160020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3"/>
          <p:cNvSpPr txBox="1"/>
          <p:nvPr/>
        </p:nvSpPr>
        <p:spPr>
          <a:xfrm>
            <a:off x="6510528" y="3108960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03</a:t>
            </a:r>
          </a:p>
        </p:txBody>
      </p:sp>
      <p:sp>
        <p:nvSpPr>
          <p:cNvPr id="16" name="etapa_3"/>
          <p:cNvSpPr txBox="1"/>
          <p:nvPr/>
        </p:nvSpPr>
        <p:spPr>
          <a:xfrm>
            <a:off x="6510528" y="3593592"/>
            <a:ext cx="2011680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etapa_3 }}</a:t>
            </a:r>
          </a:p>
        </p:txBody>
      </p:sp>
      <p:sp>
        <p:nvSpPr>
          <p:cNvPr id="17" name="etapa_nodo_4"/>
          <p:cNvSpPr/>
          <p:nvPr/>
        </p:nvSpPr>
        <p:spPr>
          <a:xfrm>
            <a:off x="9262872" y="2944368"/>
            <a:ext cx="2286000" cy="1600200"/>
          </a:xfrm>
          <a:prstGeom prst="roundRect">
            <a:avLst>
              <a:gd name="adj" fmla="val 8000"/>
            </a:avLst>
          </a:prstGeom>
          <a:solidFill>
            <a:srgbClr val="203C40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4"/>
          <p:cNvSpPr txBox="1"/>
          <p:nvPr/>
        </p:nvSpPr>
        <p:spPr>
          <a:xfrm>
            <a:off x="9400032" y="3108960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04</a:t>
            </a:r>
          </a:p>
        </p:txBody>
      </p:sp>
      <p:sp>
        <p:nvSpPr>
          <p:cNvPr id="19" name="etapa_4"/>
          <p:cNvSpPr txBox="1"/>
          <p:nvPr/>
        </p:nvSpPr>
        <p:spPr>
          <a:xfrm>
            <a:off x="9400032" y="3593592"/>
            <a:ext cx="2011680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3F6FB"/>
                </a:solidFill>
                <a:latin typeface="Aptos"/>
              </a:rPr>
              <a:t>{{ etapa_4 }}</a:t>
            </a:r>
          </a:p>
        </p:txBody>
      </p:sp>
      <p:cxnSp>
        <p:nvCxnSpPr>
          <p:cNvPr id="20" name="Connector 19"/>
          <p:cNvCxnSpPr>
            <a:stCxn id="8" idx="3"/>
            <a:endCxn id="11" idx="1"/>
          </p:cNvCxnSpPr>
          <p:nvPr/>
        </p:nvCxnSpPr>
        <p:spPr>
          <a:xfrm flipV="1">
            <a:off x="2880360" y="3744468"/>
            <a:ext cx="603504" cy="0"/>
          </a:xfrm>
          <a:prstGeom prst="line">
            <a:avLst/>
          </a:prstGeom>
          <a:ln w="25400">
            <a:solidFill>
              <a:srgbClr val="50D5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4" idx="1"/>
          </p:cNvCxnSpPr>
          <p:nvPr/>
        </p:nvCxnSpPr>
        <p:spPr>
          <a:xfrm flipV="1">
            <a:off x="5769864" y="3744468"/>
            <a:ext cx="603504" cy="0"/>
          </a:xfrm>
          <a:prstGeom prst="line">
            <a:avLst/>
          </a:prstGeom>
          <a:ln w="25400">
            <a:solidFill>
              <a:srgbClr val="50D5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3"/>
            <a:endCxn id="17" idx="1"/>
          </p:cNvCxnSpPr>
          <p:nvPr/>
        </p:nvCxnSpPr>
        <p:spPr>
          <a:xfrm flipV="1">
            <a:off x="8659368" y="3744468"/>
            <a:ext cx="603504" cy="0"/>
          </a:xfrm>
          <a:prstGeom prst="line">
            <a:avLst/>
          </a:prstGeom>
          <a:ln w="25400">
            <a:solidFill>
              <a:srgbClr val="50D5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"/>
          <p:cNvSpPr txBox="1"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ED7E4"/>
                </a:solidFill>
                <a:latin typeface="Aptos"/>
              </a:rPr>
              <a:t>{{ conclusion 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RELACIONES CLASES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DAM / RELACIONES CLASES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5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15 / 20</a:t>
            </a:r>
          </a:p>
        </p:txBody>
      </p:sp>
      <p:sp>
        <p:nvSpPr>
          <p:cNvPr id="7" name="clase_nodo_base"/>
          <p:cNvSpPr/>
          <p:nvPr/>
        </p:nvSpPr>
        <p:spPr>
          <a:xfrm>
            <a:off x="4114800" y="1901952"/>
            <a:ext cx="3959352" cy="1536192"/>
          </a:xfrm>
          <a:prstGeom prst="rect">
            <a:avLst/>
          </a:prstGeom>
          <a:solidFill>
            <a:srgbClr val="19263A"/>
          </a:solidFill>
          <a:ln w="15875">
            <a:solidFill>
              <a:srgbClr val="8B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ase_base"/>
          <p:cNvSpPr txBox="1"/>
          <p:nvPr/>
        </p:nvSpPr>
        <p:spPr>
          <a:xfrm>
            <a:off x="4270248" y="2011680"/>
            <a:ext cx="3648456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BB8FF"/>
                </a:solidFill>
                <a:latin typeface="Aptos"/>
              </a:rPr>
              <a:t>{{ clase_base 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496312"/>
            <a:ext cx="3959352" cy="1371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embros_base"/>
          <p:cNvSpPr txBox="1"/>
          <p:nvPr/>
        </p:nvSpPr>
        <p:spPr>
          <a:xfrm>
            <a:off x="4279392" y="2633472"/>
            <a:ext cx="3630168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6FB"/>
                </a:solidFill>
                <a:latin typeface="Consolas"/>
              </a:rPr>
              <a:t>{{ miembros_base }}</a:t>
            </a:r>
          </a:p>
        </p:txBody>
      </p:sp>
      <p:sp>
        <p:nvSpPr>
          <p:cNvPr id="11" name="clase_nodo_izquierda"/>
          <p:cNvSpPr/>
          <p:nvPr/>
        </p:nvSpPr>
        <p:spPr>
          <a:xfrm>
            <a:off x="731520" y="4251960"/>
            <a:ext cx="4800600" cy="1536192"/>
          </a:xfrm>
          <a:prstGeom prst="rect">
            <a:avLst/>
          </a:prstGeom>
          <a:solidFill>
            <a:srgbClr val="19263A"/>
          </a:solidFill>
          <a:ln w="15875">
            <a:solidFill>
              <a:srgbClr val="8B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se_izquierda"/>
          <p:cNvSpPr txBox="1"/>
          <p:nvPr/>
        </p:nvSpPr>
        <p:spPr>
          <a:xfrm>
            <a:off x="886968" y="4361688"/>
            <a:ext cx="4489704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BB8FF"/>
                </a:solidFill>
                <a:latin typeface="Aptos"/>
              </a:rPr>
              <a:t>{{ clase_izquierda 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4800600" cy="1371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iembros_izquierda"/>
          <p:cNvSpPr txBox="1"/>
          <p:nvPr/>
        </p:nvSpPr>
        <p:spPr>
          <a:xfrm>
            <a:off x="896112" y="4983480"/>
            <a:ext cx="4471416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6FB"/>
                </a:solidFill>
                <a:latin typeface="Consolas"/>
              </a:rPr>
              <a:t>{{ miembros_izquierda }}</a:t>
            </a:r>
          </a:p>
        </p:txBody>
      </p:sp>
      <p:sp>
        <p:nvSpPr>
          <p:cNvPr id="15" name="clase_nodo_derecha"/>
          <p:cNvSpPr/>
          <p:nvPr/>
        </p:nvSpPr>
        <p:spPr>
          <a:xfrm>
            <a:off x="6656832" y="4251960"/>
            <a:ext cx="4800600" cy="1536192"/>
          </a:xfrm>
          <a:prstGeom prst="rect">
            <a:avLst/>
          </a:prstGeom>
          <a:solidFill>
            <a:srgbClr val="19263A"/>
          </a:solidFill>
          <a:ln w="15875">
            <a:solidFill>
              <a:srgbClr val="8B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ase_derecha"/>
          <p:cNvSpPr txBox="1"/>
          <p:nvPr/>
        </p:nvSpPr>
        <p:spPr>
          <a:xfrm>
            <a:off x="6812280" y="4361688"/>
            <a:ext cx="4489704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BB8FF"/>
                </a:solidFill>
                <a:latin typeface="Aptos"/>
              </a:rPr>
              <a:t>{{ clase_derecha 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6832" y="4846320"/>
            <a:ext cx="4800600" cy="1371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iembros_derecha"/>
          <p:cNvSpPr txBox="1"/>
          <p:nvPr/>
        </p:nvSpPr>
        <p:spPr>
          <a:xfrm>
            <a:off x="6821424" y="4983480"/>
            <a:ext cx="4471416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6FB"/>
                </a:solidFill>
                <a:latin typeface="Consolas"/>
              </a:rPr>
              <a:t>{{ miembros_derecha }}</a:t>
            </a:r>
          </a:p>
        </p:txBody>
      </p:sp>
      <p:cxnSp>
        <p:nvCxnSpPr>
          <p:cNvPr id="19" name="Connector 18"/>
          <p:cNvCxnSpPr>
            <a:stCxn id="11" idx="0"/>
            <a:endCxn id="7" idx="2"/>
          </p:cNvCxnSpPr>
          <p:nvPr/>
        </p:nvCxnSpPr>
        <p:spPr>
          <a:xfrm flipV="1">
            <a:off x="3131820" y="3438144"/>
            <a:ext cx="2962656" cy="813816"/>
          </a:xfrm>
          <a:prstGeom prst="line">
            <a:avLst/>
          </a:prstGeom>
          <a:ln w="25400">
            <a:solidFill>
              <a:srgbClr val="8B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5" idx="0"/>
            <a:endCxn id="7" idx="2"/>
          </p:cNvCxnSpPr>
          <p:nvPr/>
        </p:nvCxnSpPr>
        <p:spPr>
          <a:xfrm flipH="1" flipV="1">
            <a:off x="6094476" y="3438144"/>
            <a:ext cx="2962656" cy="813816"/>
          </a:xfrm>
          <a:prstGeom prst="line">
            <a:avLst/>
          </a:prstGeom>
          <a:ln w="25400">
            <a:solidFill>
              <a:srgbClr val="8B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HEREDA DE"/>
          <p:cNvSpPr txBox="1"/>
          <p:nvPr/>
        </p:nvSpPr>
        <p:spPr>
          <a:xfrm>
            <a:off x="2103120" y="3721608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HEREDA DE</a:t>
            </a:r>
          </a:p>
        </p:txBody>
      </p:sp>
      <p:sp>
        <p:nvSpPr>
          <p:cNvPr id="22" name="HEREDA DE"/>
          <p:cNvSpPr txBox="1"/>
          <p:nvPr/>
        </p:nvSpPr>
        <p:spPr>
          <a:xfrm>
            <a:off x="8229600" y="3721608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HEREDA 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CASO PRACTICO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DAM / CASO PRACTICO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6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3767328" cy="4224528"/>
          </a:xfrm>
          <a:prstGeom prst="roundRect">
            <a:avLst>
              <a:gd name="adj" fmla="val 8000"/>
            </a:avLst>
          </a:prstGeom>
          <a:solidFill>
            <a:srgbClr val="20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XTO REAL"/>
          <p:cNvSpPr txBox="1"/>
          <p:nvPr/>
        </p:nvSpPr>
        <p:spPr>
          <a:xfrm>
            <a:off x="868680" y="2130552"/>
            <a:ext cx="3200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B8FF"/>
                </a:solidFill>
                <a:latin typeface="Aptos"/>
              </a:rPr>
              <a:t>CONTEXTO REAL</a:t>
            </a:r>
          </a:p>
        </p:txBody>
      </p:sp>
      <p:sp>
        <p:nvSpPr>
          <p:cNvPr id="9" name="contexto"/>
          <p:cNvSpPr txBox="1"/>
          <p:nvPr/>
        </p:nvSpPr>
        <p:spPr>
          <a:xfrm>
            <a:off x="868680" y="2651760"/>
            <a:ext cx="3218688" cy="3108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contexto }}</a:t>
            </a:r>
          </a:p>
        </p:txBody>
      </p:sp>
      <p:sp>
        <p:nvSpPr>
          <p:cNvPr id="10" name="REQUISITOS"/>
          <p:cNvSpPr txBox="1"/>
          <p:nvPr/>
        </p:nvSpPr>
        <p:spPr>
          <a:xfrm>
            <a:off x="4754880" y="1975104"/>
            <a:ext cx="6583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REQUISITOS</a:t>
            </a:r>
          </a:p>
        </p:txBody>
      </p:sp>
      <p:sp>
        <p:nvSpPr>
          <p:cNvPr id="11" name="requisitos"/>
          <p:cNvSpPr txBox="1"/>
          <p:nvPr/>
        </p:nvSpPr>
        <p:spPr>
          <a:xfrm>
            <a:off x="4754880" y="2432304"/>
            <a:ext cx="6492240" cy="2148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requisitos }}</a:t>
            </a:r>
          </a:p>
        </p:txBody>
      </p:sp>
      <p:sp>
        <p:nvSpPr>
          <p:cNvPr id="12" name="OBJETIVO VERIFICABLE"/>
          <p:cNvSpPr txBox="1"/>
          <p:nvPr/>
        </p:nvSpPr>
        <p:spPr>
          <a:xfrm>
            <a:off x="4754880" y="4718304"/>
            <a:ext cx="6583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E0AF"/>
                </a:solidFill>
                <a:latin typeface="Aptos"/>
              </a:rPr>
              <a:t>OBJETIVO VERIFICABLE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6008" y="5166360"/>
            <a:ext cx="6912864" cy="978408"/>
          </a:xfrm>
          <a:prstGeom prst="roundRect">
            <a:avLst>
              <a:gd name="adj" fmla="val 8000"/>
            </a:avLst>
          </a:prstGeom>
          <a:solidFill>
            <a:srgbClr val="18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bjetivo"/>
          <p:cNvSpPr txBox="1"/>
          <p:nvPr/>
        </p:nvSpPr>
        <p:spPr>
          <a:xfrm>
            <a:off x="4846320" y="5312664"/>
            <a:ext cx="649224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CE0AF"/>
                </a:solidFill>
                <a:latin typeface="Aptos"/>
              </a:rPr>
              <a:t>{{ objetivo 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F4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ADVERTENCIA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56A"/>
                </a:solidFill>
                <a:latin typeface="Aptos"/>
              </a:rPr>
              <a:t>DAM / ADVERTENCIA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7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17 / 20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777240" y="2788920"/>
            <a:ext cx="1920240" cy="1783080"/>
          </a:xfrm>
          <a:prstGeom prst="triangle">
            <a:avLst/>
          </a:prstGeom>
          <a:solidFill>
            <a:srgbClr val="F4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"/>
          <p:cNvSpPr txBox="1"/>
          <p:nvPr/>
        </p:nvSpPr>
        <p:spPr>
          <a:xfrm>
            <a:off x="1307592" y="3337560"/>
            <a:ext cx="859536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01827"/>
                </a:solidFill>
                <a:latin typeface="Aptos"/>
              </a:rPr>
              <a:t>!</a:t>
            </a:r>
          </a:p>
        </p:txBody>
      </p:sp>
      <p:sp>
        <p:nvSpPr>
          <p:cNvPr id="9" name="ERROR HABITUAL"/>
          <p:cNvSpPr txBox="1"/>
          <p:nvPr/>
        </p:nvSpPr>
        <p:spPr>
          <a:xfrm>
            <a:off x="3246120" y="1920240"/>
            <a:ext cx="8138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39B"/>
                </a:solidFill>
                <a:latin typeface="Aptos"/>
              </a:rPr>
              <a:t>ERROR HABITUAL</a:t>
            </a:r>
          </a:p>
        </p:txBody>
      </p:sp>
      <p:sp>
        <p:nvSpPr>
          <p:cNvPr id="10" name="error"/>
          <p:cNvSpPr txBox="1"/>
          <p:nvPr/>
        </p:nvSpPr>
        <p:spPr>
          <a:xfrm>
            <a:off x="3246120" y="2313432"/>
            <a:ext cx="81381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error }}</a:t>
            </a:r>
          </a:p>
        </p:txBody>
      </p:sp>
      <p:sp>
        <p:nvSpPr>
          <p:cNvPr id="11" name="POR QUÉ ES UN PROBLEMA"/>
          <p:cNvSpPr txBox="1"/>
          <p:nvPr/>
        </p:nvSpPr>
        <p:spPr>
          <a:xfrm>
            <a:off x="3246120" y="3291840"/>
            <a:ext cx="8138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56A"/>
                </a:solidFill>
                <a:latin typeface="Aptos"/>
              </a:rPr>
              <a:t>POR QUÉ ES UN PROBLEMA</a:t>
            </a:r>
          </a:p>
        </p:txBody>
      </p:sp>
      <p:sp>
        <p:nvSpPr>
          <p:cNvPr id="12" name="motivo"/>
          <p:cNvSpPr txBox="1"/>
          <p:nvPr/>
        </p:nvSpPr>
        <p:spPr>
          <a:xfrm>
            <a:off x="3246120" y="3685032"/>
            <a:ext cx="81381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motivo }}</a:t>
            </a:r>
          </a:p>
        </p:txBody>
      </p:sp>
      <p:sp>
        <p:nvSpPr>
          <p:cNvPr id="13" name="QUÉ HACER EN SU LUGAR"/>
          <p:cNvSpPr txBox="1"/>
          <p:nvPr/>
        </p:nvSpPr>
        <p:spPr>
          <a:xfrm>
            <a:off x="3246120" y="4681728"/>
            <a:ext cx="8138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QUÉ HACER EN SU LUGAR</a:t>
            </a:r>
          </a:p>
        </p:txBody>
      </p:sp>
      <p:sp>
        <p:nvSpPr>
          <p:cNvPr id="14" name="recomendacion"/>
          <p:cNvSpPr txBox="1"/>
          <p:nvPr/>
        </p:nvSpPr>
        <p:spPr>
          <a:xfrm>
            <a:off x="3246120" y="5074920"/>
            <a:ext cx="81381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ED7E4"/>
                </a:solidFill>
                <a:latin typeface="Aptos"/>
              </a:rPr>
              <a:t>{{ recomendacion 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RESUMEN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DAM / RESUMEN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8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18 / 20</a:t>
            </a:r>
          </a:p>
        </p:txBody>
      </p:sp>
      <p:sp>
        <p:nvSpPr>
          <p:cNvPr id="7" name="01"/>
          <p:cNvSpPr txBox="1"/>
          <p:nvPr/>
        </p:nvSpPr>
        <p:spPr>
          <a:xfrm>
            <a:off x="640080" y="2103120"/>
            <a:ext cx="548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01</a:t>
            </a:r>
          </a:p>
        </p:txBody>
      </p:sp>
      <p:sp>
        <p:nvSpPr>
          <p:cNvPr id="8" name="idea_1"/>
          <p:cNvSpPr txBox="1"/>
          <p:nvPr/>
        </p:nvSpPr>
        <p:spPr>
          <a:xfrm>
            <a:off x="1325880" y="2057400"/>
            <a:ext cx="6336792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ED7E4"/>
                </a:solidFill>
                <a:latin typeface="Aptos"/>
              </a:rPr>
              <a:t>{{ idea_1 }}</a:t>
            </a:r>
          </a:p>
        </p:txBody>
      </p:sp>
      <p:sp>
        <p:nvSpPr>
          <p:cNvPr id="9" name="02"/>
          <p:cNvSpPr txBox="1"/>
          <p:nvPr/>
        </p:nvSpPr>
        <p:spPr>
          <a:xfrm>
            <a:off x="640080" y="3447287"/>
            <a:ext cx="548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02</a:t>
            </a:r>
          </a:p>
        </p:txBody>
      </p:sp>
      <p:sp>
        <p:nvSpPr>
          <p:cNvPr id="10" name="idea_2"/>
          <p:cNvSpPr txBox="1"/>
          <p:nvPr/>
        </p:nvSpPr>
        <p:spPr>
          <a:xfrm>
            <a:off x="1325880" y="3401568"/>
            <a:ext cx="6336792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ED7E4"/>
                </a:solidFill>
                <a:latin typeface="Aptos"/>
              </a:rPr>
              <a:t>{{ idea_2 }}</a:t>
            </a:r>
          </a:p>
        </p:txBody>
      </p:sp>
      <p:sp>
        <p:nvSpPr>
          <p:cNvPr id="11" name="03"/>
          <p:cNvSpPr txBox="1"/>
          <p:nvPr/>
        </p:nvSpPr>
        <p:spPr>
          <a:xfrm>
            <a:off x="640080" y="4791455"/>
            <a:ext cx="548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03</a:t>
            </a:r>
          </a:p>
        </p:txBody>
      </p:sp>
      <p:sp>
        <p:nvSpPr>
          <p:cNvPr id="12" name="idea_3"/>
          <p:cNvSpPr txBox="1"/>
          <p:nvPr/>
        </p:nvSpPr>
        <p:spPr>
          <a:xfrm>
            <a:off x="1325880" y="4745736"/>
            <a:ext cx="6336792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ED7E4"/>
                </a:solidFill>
                <a:latin typeface="Aptos"/>
              </a:rPr>
              <a:t>{{ idea_3 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56816"/>
            <a:ext cx="3410712" cy="4178808"/>
          </a:xfrm>
          <a:prstGeom prst="roundRect">
            <a:avLst>
              <a:gd name="adj" fmla="val 8000"/>
            </a:avLst>
          </a:prstGeom>
          <a:solidFill>
            <a:srgbClr val="203C40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 RECORDAR"/>
          <p:cNvSpPr txBox="1"/>
          <p:nvPr/>
        </p:nvSpPr>
        <p:spPr>
          <a:xfrm>
            <a:off x="8412480" y="2221992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PARA RECORDAR</a:t>
            </a:r>
          </a:p>
        </p:txBody>
      </p:sp>
      <p:sp>
        <p:nvSpPr>
          <p:cNvPr id="15" name="recuerda"/>
          <p:cNvSpPr txBox="1"/>
          <p:nvPr/>
        </p:nvSpPr>
        <p:spPr>
          <a:xfrm>
            <a:off x="8412480" y="2852928"/>
            <a:ext cx="2834640" cy="2880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3F6FB"/>
                </a:solidFill>
                <a:latin typeface="Aptos"/>
              </a:rPr>
              <a:t>{{ recuerda 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8CE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TERMINAL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E0AF"/>
                </a:solidFill>
                <a:latin typeface="Aptos"/>
              </a:rPr>
              <a:t>DAM / TERMINAL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19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19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01952"/>
            <a:ext cx="10954512" cy="4270248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ANDOS"/>
          <p:cNvSpPr txBox="1"/>
          <p:nvPr/>
        </p:nvSpPr>
        <p:spPr>
          <a:xfrm>
            <a:off x="868680" y="2075688"/>
            <a:ext cx="10332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E0AF"/>
                </a:solidFill>
                <a:latin typeface="Aptos"/>
              </a:rPr>
              <a:t>COMANDOS</a:t>
            </a:r>
          </a:p>
        </p:txBody>
      </p:sp>
      <p:sp>
        <p:nvSpPr>
          <p:cNvPr id="9" name="comandos"/>
          <p:cNvSpPr txBox="1"/>
          <p:nvPr/>
        </p:nvSpPr>
        <p:spPr>
          <a:xfrm>
            <a:off x="868680" y="2523744"/>
            <a:ext cx="10405872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6FB"/>
                </a:solidFill>
                <a:latin typeface="Consolas"/>
              </a:rPr>
              <a:t>{{ comandos }}</a:t>
            </a:r>
          </a:p>
        </p:txBody>
      </p:sp>
      <p:sp>
        <p:nvSpPr>
          <p:cNvPr id="10" name="SALIDA"/>
          <p:cNvSpPr txBox="1"/>
          <p:nvPr/>
        </p:nvSpPr>
        <p:spPr>
          <a:xfrm>
            <a:off x="868680" y="4005072"/>
            <a:ext cx="10332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ED7E4"/>
                </a:solidFill>
                <a:latin typeface="Aptos"/>
              </a:rPr>
              <a:t>SALIDA</a:t>
            </a:r>
          </a:p>
        </p:txBody>
      </p:sp>
      <p:sp>
        <p:nvSpPr>
          <p:cNvPr id="11" name="salida"/>
          <p:cNvSpPr txBox="1"/>
          <p:nvPr/>
        </p:nvSpPr>
        <p:spPr>
          <a:xfrm>
            <a:off x="868680" y="4443984"/>
            <a:ext cx="10405872" cy="1252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8CE0AF"/>
                </a:solidFill>
                <a:latin typeface="Consolas"/>
              </a:rPr>
              <a:t>{{ salida }}</a:t>
            </a:r>
          </a:p>
        </p:txBody>
      </p:sp>
      <p:sp>
        <p:nvSpPr>
          <p:cNvPr id="12" name="nota"/>
          <p:cNvSpPr txBox="1"/>
          <p:nvPr/>
        </p:nvSpPr>
        <p:spPr>
          <a:xfrm>
            <a:off x="868680" y="5824728"/>
            <a:ext cx="1040587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ED7E4"/>
                </a:solidFill>
                <a:latin typeface="Aptos"/>
              </a:rPr>
              <a:t>{{ nota }}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47472"/>
            <a:ext cx="73152" cy="219456"/>
          </a:xfrm>
          <a:prstGeom prst="rect">
            <a:avLst/>
          </a:prstGeom>
          <a:solidFill>
            <a:srgbClr val="50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M / CONCEPTO VISUAL"/>
          <p:cNvSpPr txBox="1"/>
          <p:nvPr/>
        </p:nvSpPr>
        <p:spPr>
          <a:xfrm>
            <a:off x="804672" y="29260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DAM / CONCEPTO VISUAL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594360" y="804672"/>
            <a:ext cx="10972800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5" name="modulo_}}__|__{{_curso"/>
          <p:cNvSpPr txBox="1"/>
          <p:nvPr/>
        </p:nvSpPr>
        <p:spPr>
          <a:xfrm>
            <a:off x="594360" y="643737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  <p:sp>
        <p:nvSpPr>
          <p:cNvPr id="6" name="20 / 20"/>
          <p:cNvSpPr txBox="1"/>
          <p:nvPr/>
        </p:nvSpPr>
        <p:spPr>
          <a:xfrm>
            <a:off x="10789920" y="6409944"/>
            <a:ext cx="822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A9BE"/>
                </a:solidFill>
                <a:latin typeface="Aptos"/>
              </a:rPr>
              <a:t>20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984248"/>
            <a:ext cx="6373368" cy="1069848"/>
          </a:xfrm>
          <a:prstGeom prst="roundRect">
            <a:avLst>
              <a:gd name="adj" fmla="val 8000"/>
            </a:avLst>
          </a:prstGeom>
          <a:solidFill>
            <a:srgbClr val="203C40"/>
          </a:solidFill>
          <a:ln w="15875">
            <a:solidFill>
              <a:srgbClr val="50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cepto"/>
          <p:cNvSpPr txBox="1"/>
          <p:nvPr/>
        </p:nvSpPr>
        <p:spPr>
          <a:xfrm>
            <a:off x="3136392" y="2194560"/>
            <a:ext cx="591616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0D5CB"/>
                </a:solidFill>
                <a:latin typeface="Aptos"/>
              </a:rPr>
              <a:t>{{ concepto }}</a:t>
            </a:r>
          </a:p>
        </p:txBody>
      </p:sp>
      <p:sp>
        <p:nvSpPr>
          <p:cNvPr id="9" name="explicacion"/>
          <p:cNvSpPr txBox="1"/>
          <p:nvPr/>
        </p:nvSpPr>
        <p:spPr>
          <a:xfrm>
            <a:off x="1143000" y="3401568"/>
            <a:ext cx="9902952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ED7E4"/>
                </a:solidFill>
                <a:latin typeface="Aptos"/>
              </a:rPr>
              <a:t>{{ explicacion 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846320"/>
            <a:ext cx="3438144" cy="12344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1"/>
          <p:cNvSpPr txBox="1"/>
          <p:nvPr/>
        </p:nvSpPr>
        <p:spPr>
          <a:xfrm>
            <a:off x="758952" y="4956048"/>
            <a:ext cx="640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01</a:t>
            </a:r>
          </a:p>
        </p:txBody>
      </p:sp>
      <p:sp>
        <p:nvSpPr>
          <p:cNvPr id="12" name="apoyo_1"/>
          <p:cNvSpPr txBox="1"/>
          <p:nvPr/>
        </p:nvSpPr>
        <p:spPr>
          <a:xfrm>
            <a:off x="795528" y="5349240"/>
            <a:ext cx="303580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6FB"/>
                </a:solidFill>
                <a:latin typeface="Aptos"/>
              </a:rPr>
              <a:t>{{ apoyo_1 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4846320"/>
            <a:ext cx="3438144" cy="12344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2"/>
          <p:cNvSpPr txBox="1"/>
          <p:nvPr/>
        </p:nvSpPr>
        <p:spPr>
          <a:xfrm>
            <a:off x="4517136" y="4956048"/>
            <a:ext cx="640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02</a:t>
            </a:r>
          </a:p>
        </p:txBody>
      </p:sp>
      <p:sp>
        <p:nvSpPr>
          <p:cNvPr id="15" name="apoyo_2"/>
          <p:cNvSpPr txBox="1"/>
          <p:nvPr/>
        </p:nvSpPr>
        <p:spPr>
          <a:xfrm>
            <a:off x="4553712" y="5349240"/>
            <a:ext cx="303580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6FB"/>
                </a:solidFill>
                <a:latin typeface="Aptos"/>
              </a:rPr>
              <a:t>{{ apoyo_2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4846320"/>
            <a:ext cx="3438144" cy="12344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3"/>
          <p:cNvSpPr txBox="1"/>
          <p:nvPr/>
        </p:nvSpPr>
        <p:spPr>
          <a:xfrm>
            <a:off x="8275320" y="4956048"/>
            <a:ext cx="640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0D5CB"/>
                </a:solidFill>
                <a:latin typeface="Aptos"/>
              </a:rPr>
              <a:t>03</a:t>
            </a:r>
          </a:p>
        </p:txBody>
      </p:sp>
      <p:sp>
        <p:nvSpPr>
          <p:cNvPr id="18" name="apoyo_3"/>
          <p:cNvSpPr txBox="1"/>
          <p:nvPr/>
        </p:nvSpPr>
        <p:spPr>
          <a:xfrm>
            <a:off x="8311896" y="5349240"/>
            <a:ext cx="303580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6FB"/>
                </a:solidFill>
                <a:latin typeface="Aptos"/>
              </a:rPr>
              <a:t>{{ apoyo_3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